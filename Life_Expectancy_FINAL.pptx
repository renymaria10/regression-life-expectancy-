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8" r:id="rId9"/>
    <p:sldId id="269" r:id="rId10"/>
    <p:sldId id="270" r:id="rId11"/>
    <p:sldId id="272"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1162"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C8A880"/>
                </a:solidFill>
                <a:latin typeface="Arial"/>
              </a:defRPr>
            </a:pPr>
            <a:r>
              <a:rPr lang="en-IN" sz="1100" b="0" i="0" u="none" strike="noStrike">
                <a:solidFill>
                  <a:srgbClr val="C8A880"/>
                </a:solidFill>
                <a:latin typeface="Arial"/>
              </a:rPr>
              <a:t>Classification accuracy comparison (%)</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C3317"/>
            </a:solidFill>
            <a:effectLst/>
          </c:spPr>
          <c:invertIfNegative val="0"/>
          <c:dPt>
            <c:idx val="0"/>
            <c:invertIfNegative val="0"/>
            <c:bubble3D val="0"/>
            <c:extLst>
              <c:ext xmlns:c16="http://schemas.microsoft.com/office/drawing/2014/chart" uri="{C3380CC4-5D6E-409C-BE32-E72D297353CC}">
                <c16:uniqueId val="{00000001-8F2A-45DD-A71C-21CB14895F23}"/>
              </c:ext>
            </c:extLst>
          </c:dPt>
          <c:dPt>
            <c:idx val="1"/>
            <c:invertIfNegative val="0"/>
            <c:bubble3D val="0"/>
            <c:extLst>
              <c:ext xmlns:c16="http://schemas.microsoft.com/office/drawing/2014/chart" uri="{C3380CC4-5D6E-409C-BE32-E72D297353CC}">
                <c16:uniqueId val="{00000003-8F2A-45DD-A71C-21CB14895F23}"/>
              </c:ext>
            </c:extLst>
          </c:dPt>
          <c:dPt>
            <c:idx val="2"/>
            <c:invertIfNegative val="0"/>
            <c:bubble3D val="0"/>
            <c:extLst>
              <c:ext xmlns:c16="http://schemas.microsoft.com/office/drawing/2014/chart" uri="{C3380CC4-5D6E-409C-BE32-E72D297353CC}">
                <c16:uniqueId val="{00000005-8F2A-45DD-A71C-21CB14895F23}"/>
              </c:ext>
            </c:extLst>
          </c:dPt>
          <c:dPt>
            <c:idx val="3"/>
            <c:invertIfNegative val="0"/>
            <c:bubble3D val="0"/>
            <c:spPr>
              <a:solidFill>
                <a:srgbClr val="C8963C"/>
              </a:solidFill>
              <a:effectLst/>
            </c:spPr>
            <c:extLst>
              <c:ext xmlns:c16="http://schemas.microsoft.com/office/drawing/2014/chart" uri="{C3380CC4-5D6E-409C-BE32-E72D297353CC}">
                <c16:uniqueId val="{00000007-8F2A-45DD-A71C-21CB14895F23}"/>
              </c:ext>
            </c:extLst>
          </c:dPt>
          <c:dLbls>
            <c:dLbl>
              <c:idx val="0"/>
              <c:tx>
                <c:rich>
                  <a:bodyPr/>
                  <a:lstStyle/>
                  <a:p>
                    <a:r>
                      <a:rPr lang="en-US"/>
                      <a:t>85</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F2A-45DD-A71C-21CB14895F23}"/>
                </c:ext>
              </c:extLst>
            </c:dLbl>
            <c:dLbl>
              <c:idx val="1"/>
              <c:tx>
                <c:rich>
                  <a:bodyPr/>
                  <a:lstStyle/>
                  <a:p>
                    <a:r>
                      <a:rPr lang="en-US"/>
                      <a:t>94</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F2A-45DD-A71C-21CB14895F23}"/>
                </c:ext>
              </c:extLst>
            </c:dLbl>
            <c:dLbl>
              <c:idx val="2"/>
              <c:tx>
                <c:rich>
                  <a:bodyPr/>
                  <a:lstStyle/>
                  <a:p>
                    <a:r>
                      <a:rPr lang="en-US"/>
                      <a:t>93</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F2A-45DD-A71C-21CB14895F23}"/>
                </c:ext>
              </c:extLst>
            </c:dLbl>
            <c:dLbl>
              <c:idx val="3"/>
              <c:tx>
                <c:rich>
                  <a:bodyPr/>
                  <a:lstStyle/>
                  <a:p>
                    <a:r>
                      <a:rPr lang="en-US" dirty="0"/>
                      <a:t>89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F2A-45DD-A71C-21CB14895F23}"/>
                </c:ext>
              </c:extLst>
            </c:dLbl>
            <c:numFmt formatCode="#,##0" sourceLinked="0"/>
            <c:spPr>
              <a:noFill/>
              <a:ln>
                <a:noFill/>
              </a:ln>
              <a:effectLst/>
            </c:spPr>
            <c:txPr>
              <a:bodyPr/>
              <a:lstStyle/>
              <a:p>
                <a:pPr>
                  <a:defRPr sz="1200" b="0" i="0" u="none" strike="noStrike">
                    <a:solidFill>
                      <a:srgbClr val="FAF7F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KNN</c:v>
                </c:pt>
                <c:pt idx="2">
                  <c:v>Decision Tree</c:v>
                </c:pt>
                <c:pt idx="3">
                  <c:v>SVM</c:v>
                </c:pt>
              </c:strCache>
            </c:strRef>
          </c:cat>
          <c:val>
            <c:numRef>
              <c:f>Sheet1!$B$2:$B$5</c:f>
              <c:numCache>
                <c:formatCode>General</c:formatCode>
                <c:ptCount val="4"/>
                <c:pt idx="0">
                  <c:v>88</c:v>
                </c:pt>
                <c:pt idx="1">
                  <c:v>92</c:v>
                </c:pt>
                <c:pt idx="2">
                  <c:v>91</c:v>
                </c:pt>
                <c:pt idx="3">
                  <c:v>94</c:v>
                </c:pt>
              </c:numCache>
            </c:numRef>
          </c:val>
          <c:extLst>
            <c:ext xmlns:c16="http://schemas.microsoft.com/office/drawing/2014/chart" uri="{C3380CC4-5D6E-409C-BE32-E72D297353CC}">
              <c16:uniqueId val="{00000008-8F2A-45DD-A71C-21CB14895F2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A880"/>
                </a:solidFill>
                <a:latin typeface="Arial"/>
              </a:defRPr>
            </a:pPr>
            <a:endParaRPr lang="en-US"/>
          </a:p>
        </c:txPr>
        <c:crossAx val="2094734552"/>
        <c:crosses val="autoZero"/>
        <c:auto val="1"/>
        <c:lblAlgn val="ctr"/>
        <c:lblOffset val="100"/>
        <c:noMultiLvlLbl val="1"/>
      </c:catAx>
      <c:valAx>
        <c:axId val="2094734552"/>
        <c:scaling>
          <c:orientation val="minMax"/>
          <c:max val="100"/>
          <c:min val="80"/>
        </c:scaling>
        <c:delete val="0"/>
        <c:axPos val="l"/>
        <c:majorGridlines>
          <c:spPr>
            <a:ln w="6350" cap="flat">
              <a:solidFill>
                <a:srgbClr val="2E1C1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A8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E100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C8A880"/>
                </a:solidFill>
                <a:latin typeface="Arial"/>
              </a:defRPr>
            </a:pPr>
            <a:r>
              <a:rPr lang="en-IN" sz="1100" b="0" i="0" u="none" strike="noStrike">
                <a:solidFill>
                  <a:srgbClr val="C8A880"/>
                </a:solidFill>
                <a:latin typeface="Arial"/>
              </a:rPr>
              <a:t>Ridge </a:t>
            </a:r>
            <a:r>
              <a:rPr lang="el-GR" sz="1100" b="0" i="0" u="none" strike="noStrike">
                <a:solidFill>
                  <a:srgbClr val="C8A880"/>
                </a:solidFill>
                <a:latin typeface="Arial"/>
              </a:rPr>
              <a:t>α </a:t>
            </a:r>
            <a:r>
              <a:rPr lang="en-IN" sz="1100" b="0" i="0" u="none" strike="noStrike">
                <a:solidFill>
                  <a:srgbClr val="C8A880"/>
                </a:solidFill>
                <a:latin typeface="Arial"/>
              </a:rPr>
              <a:t>tuning (GridSearchCV R²)</a:t>
            </a:r>
          </a:p>
        </c:rich>
      </c:tx>
      <c:overlay val="0"/>
    </c:title>
    <c:autoTitleDeleted val="0"/>
    <c:plotArea>
      <c:layout/>
      <c:lineChart>
        <c:grouping val="standard"/>
        <c:varyColors val="0"/>
        <c:ser>
          <c:idx val="0"/>
          <c:order val="0"/>
          <c:tx>
            <c:strRef>
              <c:f>Sheet1!$B$1</c:f>
              <c:strCache>
                <c:ptCount val="1"/>
                <c:pt idx="0">
                  <c:v>R² Score</c:v>
                </c:pt>
              </c:strCache>
            </c:strRef>
          </c:tx>
          <c:spPr>
            <a:ln w="31750" cap="flat">
              <a:solidFill>
                <a:srgbClr val="C8963C"/>
              </a:solidFill>
              <a:prstDash val="solid"/>
              <a:round/>
            </a:ln>
            <a:effectLst/>
          </c:spPr>
          <c:marker>
            <c:symbol val="circle"/>
            <c:size val="6"/>
            <c:spPr>
              <a:solidFill>
                <a:srgbClr val="C8963C"/>
              </a:solidFill>
              <a:ln w="9525" cap="flat">
                <a:solidFill>
                  <a:srgbClr val="C8963C"/>
                </a:solidFill>
                <a:prstDash val="solid"/>
                <a:round/>
              </a:ln>
              <a:effectLst/>
            </c:spPr>
          </c:marker>
          <c:dLbls>
            <c:numFmt formatCode="#,##0" sourceLinked="0"/>
            <c:spPr>
              <a:noFill/>
              <a:ln>
                <a:noFill/>
              </a:ln>
              <a:effectLst/>
            </c:spPr>
            <c:txPr>
              <a:bodyPr/>
              <a:lstStyle/>
              <a:p>
                <a:pPr>
                  <a:defRPr sz="1200" b="0" i="0" u="none" strike="noStrike">
                    <a:solidFill>
                      <a:srgbClr val="FAF7F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α=0.01</c:v>
                </c:pt>
                <c:pt idx="1">
                  <c:v>α=0.1</c:v>
                </c:pt>
                <c:pt idx="2">
                  <c:v>α=1</c:v>
                </c:pt>
                <c:pt idx="3">
                  <c:v>α=10</c:v>
                </c:pt>
                <c:pt idx="4">
                  <c:v>α=100</c:v>
                </c:pt>
              </c:strCache>
            </c:strRef>
          </c:cat>
          <c:val>
            <c:numRef>
              <c:f>Sheet1!$B$2:$B$6</c:f>
              <c:numCache>
                <c:formatCode>General</c:formatCode>
                <c:ptCount val="5"/>
                <c:pt idx="0">
                  <c:v>0.81</c:v>
                </c:pt>
                <c:pt idx="1">
                  <c:v>0.81100000000000005</c:v>
                </c:pt>
                <c:pt idx="2">
                  <c:v>0.81200000000000006</c:v>
                </c:pt>
                <c:pt idx="3">
                  <c:v>0.81200000000000006</c:v>
                </c:pt>
                <c:pt idx="4">
                  <c:v>0.81259999999999999</c:v>
                </c:pt>
              </c:numCache>
            </c:numRef>
          </c:val>
          <c:smooth val="1"/>
          <c:extLst>
            <c:ext xmlns:c16="http://schemas.microsoft.com/office/drawing/2014/chart" uri="{C3380CC4-5D6E-409C-BE32-E72D297353CC}">
              <c16:uniqueId val="{00000000-1FDB-4453-8F33-9EDE05F12C21}"/>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A880"/>
                </a:solidFill>
                <a:latin typeface="Arial"/>
              </a:defRPr>
            </a:pPr>
            <a:endParaRPr lang="en-US"/>
          </a:p>
        </c:txPr>
        <c:crossAx val="2094734552"/>
        <c:crosses val="autoZero"/>
        <c:auto val="1"/>
        <c:lblAlgn val="ctr"/>
        <c:lblOffset val="100"/>
        <c:noMultiLvlLbl val="1"/>
      </c:catAx>
      <c:valAx>
        <c:axId val="2094734552"/>
        <c:scaling>
          <c:orientation val="minMax"/>
          <c:max val="0.81499999999999995"/>
          <c:min val="0.80800000000000005"/>
        </c:scaling>
        <c:delete val="0"/>
        <c:axPos val="l"/>
        <c:majorGridlines>
          <c:spPr>
            <a:ln w="6350" cap="flat">
              <a:solidFill>
                <a:srgbClr val="2E1C1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A8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E100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621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BE1E0-064F-663A-A46B-F18F72345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50883-B3E2-1569-C4EA-EF74EEF22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675BB-7E9E-DD99-D97E-7134D6AAA3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F3B02A-BEB8-46B9-6906-69FBD745577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41973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2C1810"/>
          </a:solidFill>
          <a:ln w="12700">
            <a:solidFill>
              <a:srgbClr val="2C1810"/>
            </a:solidFill>
            <a:prstDash val="solid"/>
          </a:ln>
        </p:spPr>
      </p:sp>
      <p:sp>
        <p:nvSpPr>
          <p:cNvPr id="3" name="Shape 1"/>
          <p:cNvSpPr/>
          <p:nvPr/>
        </p:nvSpPr>
        <p:spPr>
          <a:xfrm>
            <a:off x="0" y="3840480"/>
            <a:ext cx="1097280" cy="1303020"/>
          </a:xfrm>
          <a:prstGeom prst="rect">
            <a:avLst/>
          </a:prstGeom>
          <a:solidFill>
            <a:srgbClr val="C8963C"/>
          </a:solidFill>
          <a:ln w="12700">
            <a:solidFill>
              <a:srgbClr val="C8963C"/>
            </a:solidFill>
            <a:prstDash val="solid"/>
          </a:ln>
        </p:spPr>
      </p:sp>
      <p:sp>
        <p:nvSpPr>
          <p:cNvPr id="4" name="Text 2"/>
          <p:cNvSpPr/>
          <p:nvPr/>
        </p:nvSpPr>
        <p:spPr>
          <a:xfrm>
            <a:off x="411480" y="365760"/>
            <a:ext cx="5486400" cy="1005840"/>
          </a:xfrm>
          <a:prstGeom prst="rect">
            <a:avLst/>
          </a:prstGeom>
          <a:noFill/>
          <a:ln/>
        </p:spPr>
        <p:txBody>
          <a:bodyPr wrap="square" lIns="0" tIns="0" rIns="0" bIns="0" rtlCol="0" anchor="ctr"/>
          <a:lstStyle/>
          <a:p>
            <a:pPr marL="0" indent="0">
              <a:buNone/>
            </a:pPr>
            <a:r>
              <a:rPr lang="en-US" sz="6800" b="1" kern="0" spc="600" dirty="0">
                <a:solidFill>
                  <a:srgbClr val="5C3317"/>
                </a:solidFill>
                <a:latin typeface="Georgia" pitchFamily="34" charset="0"/>
                <a:ea typeface="Georgia" pitchFamily="34" charset="-122"/>
                <a:cs typeface="Georgia" pitchFamily="34" charset="-120"/>
              </a:rPr>
              <a:t>PROJECT</a:t>
            </a:r>
            <a:endParaRPr lang="en-US" sz="6800" dirty="0"/>
          </a:p>
        </p:txBody>
      </p:sp>
      <p:sp>
        <p:nvSpPr>
          <p:cNvPr id="5" name="Text 3"/>
          <p:cNvSpPr/>
          <p:nvPr/>
        </p:nvSpPr>
        <p:spPr>
          <a:xfrm>
            <a:off x="411480" y="1261872"/>
            <a:ext cx="5486400" cy="914400"/>
          </a:xfrm>
          <a:prstGeom prst="rect">
            <a:avLst/>
          </a:prstGeom>
          <a:noFill/>
          <a:ln/>
        </p:spPr>
        <p:txBody>
          <a:bodyPr wrap="square" lIns="0" tIns="0" rIns="0" bIns="0" rtlCol="0" anchor="ctr"/>
          <a:lstStyle/>
          <a:p>
            <a:pPr marL="0" indent="0">
              <a:buNone/>
            </a:pPr>
            <a:r>
              <a:rPr lang="en-US" sz="6800" kern="0" spc="600" dirty="0">
                <a:solidFill>
                  <a:srgbClr val="C8963C"/>
                </a:solidFill>
                <a:latin typeface="Georgia" pitchFamily="34" charset="0"/>
                <a:ea typeface="Georgia" pitchFamily="34" charset="-122"/>
                <a:cs typeface="Georgia" pitchFamily="34" charset="-120"/>
              </a:rPr>
              <a:t>REPORT</a:t>
            </a:r>
            <a:endParaRPr lang="en-US" sz="6800" dirty="0"/>
          </a:p>
        </p:txBody>
      </p:sp>
      <p:sp>
        <p:nvSpPr>
          <p:cNvPr id="6" name="Text 4"/>
          <p:cNvSpPr/>
          <p:nvPr/>
        </p:nvSpPr>
        <p:spPr>
          <a:xfrm>
            <a:off x="411480" y="2304288"/>
            <a:ext cx="5303520" cy="411480"/>
          </a:xfrm>
          <a:prstGeom prst="rect">
            <a:avLst/>
          </a:prstGeom>
          <a:noFill/>
          <a:ln/>
        </p:spPr>
        <p:txBody>
          <a:bodyPr wrap="square" lIns="0" tIns="0" rIns="0" bIns="0" rtlCol="0" anchor="ctr"/>
          <a:lstStyle/>
          <a:p>
            <a:pPr marL="0" indent="0">
              <a:buNone/>
            </a:pPr>
            <a:r>
              <a:rPr lang="en-US" sz="1400" kern="0" spc="500" dirty="0">
                <a:solidFill>
                  <a:srgbClr val="8A7060"/>
                </a:solidFill>
                <a:latin typeface="Calibri" pitchFamily="34" charset="0"/>
                <a:ea typeface="Calibri" pitchFamily="34" charset="-122"/>
                <a:cs typeface="Calibri" pitchFamily="34" charset="-120"/>
              </a:rPr>
              <a:t>P R E S E N T A T I O N</a:t>
            </a:r>
            <a:endParaRPr lang="en-US" sz="1400" dirty="0"/>
          </a:p>
        </p:txBody>
      </p:sp>
      <p:sp>
        <p:nvSpPr>
          <p:cNvPr id="7" name="Text 5"/>
          <p:cNvSpPr/>
          <p:nvPr/>
        </p:nvSpPr>
        <p:spPr>
          <a:xfrm>
            <a:off x="6035040" y="365760"/>
            <a:ext cx="3017520" cy="2011680"/>
          </a:xfrm>
          <a:prstGeom prst="rect">
            <a:avLst/>
          </a:prstGeom>
          <a:noFill/>
          <a:ln/>
        </p:spPr>
        <p:txBody>
          <a:bodyPr wrap="square" lIns="0" tIns="0" rIns="0" bIns="0" rtlCol="0" anchor="t"/>
          <a:lstStyle/>
          <a:p>
            <a:pPr marL="0" indent="0" algn="ctr">
              <a:lnSpc>
                <a:spcPct val="140000"/>
              </a:lnSpc>
              <a:buNone/>
            </a:pPr>
            <a:r>
              <a:rPr lang="en-US" sz="2200" dirty="0">
                <a:solidFill>
                  <a:srgbClr val="D4A96A"/>
                </a:solidFill>
                <a:latin typeface="Georgia" pitchFamily="34" charset="0"/>
                <a:ea typeface="Georgia" pitchFamily="34" charset="-122"/>
                <a:cs typeface="Georgia" pitchFamily="34" charset="-120"/>
              </a:rPr>
              <a:t>Life</a:t>
            </a:r>
            <a:endParaRPr lang="en-US" sz="2200" dirty="0"/>
          </a:p>
          <a:p>
            <a:pPr marL="0" indent="0" algn="ctr">
              <a:lnSpc>
                <a:spcPct val="140000"/>
              </a:lnSpc>
              <a:buNone/>
            </a:pPr>
            <a:r>
              <a:rPr lang="en-US" sz="2200" dirty="0">
                <a:solidFill>
                  <a:srgbClr val="D4A96A"/>
                </a:solidFill>
                <a:latin typeface="Georgia" pitchFamily="34" charset="0"/>
                <a:ea typeface="Georgia" pitchFamily="34" charset="-122"/>
                <a:cs typeface="Georgia" pitchFamily="34" charset="-120"/>
              </a:rPr>
              <a:t>Expectancy</a:t>
            </a:r>
            <a:endParaRPr lang="en-US" sz="2200" dirty="0"/>
          </a:p>
          <a:p>
            <a:pPr marL="0" indent="0" algn="ctr">
              <a:lnSpc>
                <a:spcPct val="140000"/>
              </a:lnSpc>
              <a:buNone/>
            </a:pPr>
            <a:r>
              <a:rPr lang="en-US" sz="2200" dirty="0">
                <a:solidFill>
                  <a:srgbClr val="D4A96A"/>
                </a:solidFill>
                <a:latin typeface="Georgia" pitchFamily="34" charset="0"/>
                <a:ea typeface="Georgia" pitchFamily="34" charset="-122"/>
                <a:cs typeface="Georgia" pitchFamily="34" charset="-120"/>
              </a:rPr>
              <a:t>Prediction</a:t>
            </a:r>
            <a:endParaRPr lang="en-US" sz="2200" dirty="0"/>
          </a:p>
        </p:txBody>
      </p:sp>
      <p:sp>
        <p:nvSpPr>
          <p:cNvPr id="8" name="Text 6"/>
          <p:cNvSpPr/>
          <p:nvPr/>
        </p:nvSpPr>
        <p:spPr>
          <a:xfrm>
            <a:off x="6035040" y="2514600"/>
            <a:ext cx="301752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Franklin Gothic Medium Cond" panose="020B0606030402020204" pitchFamily="34" charset="0"/>
                <a:ea typeface="Georgia" pitchFamily="34" charset="-122"/>
                <a:cs typeface="Georgia" pitchFamily="34" charset="-120"/>
              </a:rPr>
              <a:t>2938</a:t>
            </a:r>
            <a:endParaRPr lang="en-US" sz="2000" dirty="0">
              <a:latin typeface="Franklin Gothic Medium Cond" panose="020B0606030402020204" pitchFamily="34" charset="0"/>
            </a:endParaRPr>
          </a:p>
        </p:txBody>
      </p:sp>
      <p:sp>
        <p:nvSpPr>
          <p:cNvPr id="9" name="Text 7"/>
          <p:cNvSpPr/>
          <p:nvPr/>
        </p:nvSpPr>
        <p:spPr>
          <a:xfrm>
            <a:off x="6035040" y="2843784"/>
            <a:ext cx="3017520" cy="256032"/>
          </a:xfrm>
          <a:prstGeom prst="rect">
            <a:avLst/>
          </a:prstGeom>
          <a:noFill/>
          <a:ln/>
        </p:spPr>
        <p:txBody>
          <a:bodyPr wrap="square" lIns="0" tIns="0" rIns="0" bIns="0" rtlCol="0" anchor="ctr"/>
          <a:lstStyle/>
          <a:p>
            <a:pPr marL="0" indent="0" algn="ctr">
              <a:buNone/>
            </a:pPr>
            <a:r>
              <a:rPr lang="en-US" sz="1100" dirty="0">
                <a:solidFill>
                  <a:srgbClr val="D4A96A"/>
                </a:solidFill>
                <a:latin typeface="Calibri" pitchFamily="34" charset="0"/>
                <a:ea typeface="Calibri" pitchFamily="34" charset="-122"/>
                <a:cs typeface="Calibri" pitchFamily="34" charset="-120"/>
              </a:rPr>
              <a:t>Rows</a:t>
            </a:r>
            <a:endParaRPr lang="en-US" sz="1100" dirty="0"/>
          </a:p>
        </p:txBody>
      </p:sp>
      <p:sp>
        <p:nvSpPr>
          <p:cNvPr id="10" name="Text 8"/>
          <p:cNvSpPr/>
          <p:nvPr/>
        </p:nvSpPr>
        <p:spPr>
          <a:xfrm>
            <a:off x="6035040" y="3136392"/>
            <a:ext cx="301752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Franklin Gothic Medium" panose="020B0603020102020204" pitchFamily="34" charset="0"/>
                <a:ea typeface="Georgia" pitchFamily="34" charset="-122"/>
                <a:cs typeface="Georgia" pitchFamily="34" charset="-120"/>
              </a:rPr>
              <a:t>193</a:t>
            </a:r>
            <a:endParaRPr lang="en-US" sz="2000" dirty="0">
              <a:latin typeface="Franklin Gothic Medium" panose="020B0603020102020204" pitchFamily="34" charset="0"/>
            </a:endParaRPr>
          </a:p>
        </p:txBody>
      </p:sp>
      <p:sp>
        <p:nvSpPr>
          <p:cNvPr id="11" name="Text 9"/>
          <p:cNvSpPr/>
          <p:nvPr/>
        </p:nvSpPr>
        <p:spPr>
          <a:xfrm>
            <a:off x="6035040" y="3465576"/>
            <a:ext cx="3017520" cy="256032"/>
          </a:xfrm>
          <a:prstGeom prst="rect">
            <a:avLst/>
          </a:prstGeom>
          <a:noFill/>
          <a:ln/>
        </p:spPr>
        <p:txBody>
          <a:bodyPr wrap="square" lIns="0" tIns="0" rIns="0" bIns="0" rtlCol="0" anchor="ctr"/>
          <a:lstStyle/>
          <a:p>
            <a:pPr marL="0" indent="0" algn="ctr">
              <a:buNone/>
            </a:pPr>
            <a:r>
              <a:rPr lang="en-US" sz="1100" dirty="0">
                <a:solidFill>
                  <a:srgbClr val="D4A96A"/>
                </a:solidFill>
                <a:latin typeface="Calibri" pitchFamily="34" charset="0"/>
                <a:ea typeface="Calibri" pitchFamily="34" charset="-122"/>
                <a:cs typeface="Calibri" pitchFamily="34" charset="-120"/>
              </a:rPr>
              <a:t>Countries</a:t>
            </a:r>
            <a:endParaRPr lang="en-US" sz="1100" dirty="0"/>
          </a:p>
        </p:txBody>
      </p:sp>
      <p:sp>
        <p:nvSpPr>
          <p:cNvPr id="12" name="Text 10"/>
          <p:cNvSpPr/>
          <p:nvPr/>
        </p:nvSpPr>
        <p:spPr>
          <a:xfrm>
            <a:off x="6035040" y="3758184"/>
            <a:ext cx="301752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Franklin Gothic Medium" panose="020B0603020102020204" pitchFamily="34" charset="0"/>
                <a:ea typeface="Georgia" pitchFamily="34" charset="-122"/>
                <a:cs typeface="Georgia" pitchFamily="34" charset="-120"/>
              </a:rPr>
              <a:t>22</a:t>
            </a:r>
            <a:endParaRPr lang="en-US" sz="2000" dirty="0">
              <a:latin typeface="Franklin Gothic Medium" panose="020B0603020102020204" pitchFamily="34" charset="0"/>
            </a:endParaRPr>
          </a:p>
        </p:txBody>
      </p:sp>
      <p:sp>
        <p:nvSpPr>
          <p:cNvPr id="13" name="Text 11"/>
          <p:cNvSpPr/>
          <p:nvPr/>
        </p:nvSpPr>
        <p:spPr>
          <a:xfrm>
            <a:off x="6035040" y="4087368"/>
            <a:ext cx="3017520" cy="256032"/>
          </a:xfrm>
          <a:prstGeom prst="rect">
            <a:avLst/>
          </a:prstGeom>
          <a:noFill/>
          <a:ln/>
        </p:spPr>
        <p:txBody>
          <a:bodyPr wrap="square" lIns="0" tIns="0" rIns="0" bIns="0" rtlCol="0" anchor="ctr"/>
          <a:lstStyle/>
          <a:p>
            <a:pPr marL="0" indent="0" algn="ctr">
              <a:buNone/>
            </a:pPr>
            <a:r>
              <a:rPr lang="en-US" sz="1100" dirty="0">
                <a:solidFill>
                  <a:srgbClr val="D4A96A"/>
                </a:solidFill>
                <a:latin typeface="Calibri" pitchFamily="34" charset="0"/>
                <a:ea typeface="Calibri" pitchFamily="34" charset="-122"/>
                <a:cs typeface="Calibri" pitchFamily="34" charset="-120"/>
              </a:rPr>
              <a:t>Features</a:t>
            </a:r>
            <a:endParaRPr lang="en-US" sz="1100" dirty="0"/>
          </a:p>
        </p:txBody>
      </p:sp>
      <p:sp>
        <p:nvSpPr>
          <p:cNvPr id="14" name="Text 12"/>
          <p:cNvSpPr/>
          <p:nvPr/>
        </p:nvSpPr>
        <p:spPr>
          <a:xfrm>
            <a:off x="6035040" y="4379976"/>
            <a:ext cx="301752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Franklin Gothic Medium" panose="020B0603020102020204" pitchFamily="34" charset="0"/>
                <a:ea typeface="Georgia" pitchFamily="34" charset="-122"/>
                <a:cs typeface="Georgia" pitchFamily="34" charset="-120"/>
              </a:rPr>
              <a:t>2000–15</a:t>
            </a:r>
            <a:endParaRPr lang="en-US" sz="2000" dirty="0">
              <a:latin typeface="Franklin Gothic Medium" panose="020B0603020102020204" pitchFamily="34" charset="0"/>
            </a:endParaRPr>
          </a:p>
        </p:txBody>
      </p:sp>
      <p:sp>
        <p:nvSpPr>
          <p:cNvPr id="15" name="Text 13"/>
          <p:cNvSpPr/>
          <p:nvPr/>
        </p:nvSpPr>
        <p:spPr>
          <a:xfrm>
            <a:off x="6035040" y="4709160"/>
            <a:ext cx="3017520" cy="256032"/>
          </a:xfrm>
          <a:prstGeom prst="rect">
            <a:avLst/>
          </a:prstGeom>
          <a:noFill/>
          <a:ln/>
        </p:spPr>
        <p:txBody>
          <a:bodyPr wrap="square" lIns="0" tIns="0" rIns="0" bIns="0" rtlCol="0" anchor="ctr"/>
          <a:lstStyle/>
          <a:p>
            <a:pPr marL="0" indent="0" algn="ctr">
              <a:buNone/>
            </a:pPr>
            <a:r>
              <a:rPr lang="en-US" sz="1100" dirty="0">
                <a:solidFill>
                  <a:srgbClr val="D4A96A"/>
                </a:solidFill>
                <a:latin typeface="Calibri" pitchFamily="34" charset="0"/>
                <a:ea typeface="Calibri" pitchFamily="34" charset="-122"/>
                <a:cs typeface="Calibri" pitchFamily="34" charset="-120"/>
              </a:rPr>
              <a:t>Years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963C"/>
          </a:solidFill>
          <a:ln w="12700">
            <a:solidFill>
              <a:srgbClr val="C8963C"/>
            </a:solidFill>
            <a:prstDash val="solid"/>
          </a:ln>
        </p:spPr>
      </p:sp>
      <p:sp>
        <p:nvSpPr>
          <p:cNvPr id="3" name="Text 1"/>
          <p:cNvSpPr/>
          <p:nvPr/>
        </p:nvSpPr>
        <p:spPr>
          <a:xfrm>
            <a:off x="347472" y="256032"/>
            <a:ext cx="8412480" cy="731520"/>
          </a:xfrm>
          <a:prstGeom prst="rect">
            <a:avLst/>
          </a:prstGeom>
          <a:noFill/>
          <a:ln/>
        </p:spPr>
        <p:txBody>
          <a:bodyPr wrap="square" lIns="0" tIns="0" rIns="0" bIns="0" rtlCol="0" anchor="ctr"/>
          <a:lstStyle/>
          <a:p>
            <a:pPr marL="0" indent="0">
              <a:buNone/>
            </a:pPr>
            <a:r>
              <a:rPr lang="en-US" sz="3800" dirty="0">
                <a:solidFill>
                  <a:srgbClr val="5C3317"/>
                </a:solidFill>
                <a:latin typeface="Georgia" pitchFamily="34" charset="0"/>
                <a:ea typeface="Georgia" pitchFamily="34" charset="-122"/>
                <a:cs typeface="Georgia" pitchFamily="34" charset="-120"/>
              </a:rPr>
              <a:t>Introduction </a:t>
            </a:r>
            <a:endParaRPr lang="en-US" sz="3800" dirty="0"/>
          </a:p>
        </p:txBody>
      </p:sp>
      <p:sp>
        <p:nvSpPr>
          <p:cNvPr id="4" name="Text 2"/>
          <p:cNvSpPr/>
          <p:nvPr/>
        </p:nvSpPr>
        <p:spPr>
          <a:xfrm>
            <a:off x="347472" y="1078992"/>
            <a:ext cx="8412480" cy="384048"/>
          </a:xfrm>
          <a:prstGeom prst="rect">
            <a:avLst/>
          </a:prstGeom>
          <a:noFill/>
          <a:ln/>
        </p:spPr>
        <p:txBody>
          <a:bodyPr wrap="square" lIns="0" tIns="0" rIns="0" bIns="0" rtlCol="0" anchor="ctr"/>
          <a:lstStyle/>
          <a:p>
            <a:pPr marL="0" indent="0">
              <a:buNone/>
            </a:pPr>
            <a:r>
              <a:rPr lang="en-US" sz="1500" i="1" kern="0" spc="200" dirty="0">
                <a:solidFill>
                  <a:srgbClr val="C8963C"/>
                </a:solidFill>
                <a:latin typeface="Calibri" pitchFamily="34" charset="0"/>
                <a:ea typeface="Calibri" pitchFamily="34" charset="-122"/>
                <a:cs typeface="Calibri" pitchFamily="34" charset="-120"/>
              </a:rPr>
              <a:t>Project title:  "Life Expectancy Predictor"</a:t>
            </a:r>
            <a:endParaRPr lang="en-US" sz="1500" dirty="0"/>
          </a:p>
        </p:txBody>
      </p:sp>
      <p:sp>
        <p:nvSpPr>
          <p:cNvPr id="5" name="Text 3"/>
          <p:cNvSpPr/>
          <p:nvPr/>
        </p:nvSpPr>
        <p:spPr>
          <a:xfrm>
            <a:off x="347472" y="1600200"/>
            <a:ext cx="8223504" cy="3246120"/>
          </a:xfrm>
          <a:prstGeom prst="rect">
            <a:avLst/>
          </a:prstGeom>
          <a:noFill/>
          <a:ln/>
        </p:spPr>
        <p:txBody>
          <a:bodyPr wrap="square" lIns="0" tIns="0" rIns="0" bIns="0" rtlCol="0" anchor="t"/>
          <a:lstStyle/>
          <a:p>
            <a:pPr marL="0" indent="0">
              <a:lnSpc>
                <a:spcPct val="135000"/>
              </a:lnSpc>
              <a:buNone/>
            </a:pPr>
            <a:r>
              <a:rPr lang="en-US" sz="1300" dirty="0">
                <a:solidFill>
                  <a:srgbClr val="2C1810"/>
                </a:solidFill>
                <a:latin typeface="Calibri" pitchFamily="34" charset="0"/>
                <a:ea typeface="Calibri" pitchFamily="34" charset="-122"/>
                <a:cs typeface="Calibri" pitchFamily="34" charset="-120"/>
              </a:rPr>
              <a:t>Life expectancy is a critical indicator of a nation's overall health and development. The WHO Life Expectancy dataset covers 193 countries across 16 years (2000–2015), with 22 socioeconomic and health-related features per record.</a:t>
            </a:r>
            <a:endParaRPr lang="en-US" sz="1300" dirty="0"/>
          </a:p>
          <a:p>
            <a:pPr marL="0" indent="0">
              <a:lnSpc>
                <a:spcPct val="135000"/>
              </a:lnSpc>
              <a:buNone/>
            </a:pPr>
            <a:endParaRPr lang="en-US" sz="1300" dirty="0"/>
          </a:p>
          <a:p>
            <a:pPr marL="0" indent="0">
              <a:lnSpc>
                <a:spcPct val="135000"/>
              </a:lnSpc>
              <a:buNone/>
            </a:pPr>
            <a:r>
              <a:rPr lang="en-US" sz="1300" dirty="0">
                <a:solidFill>
                  <a:srgbClr val="2C1810"/>
                </a:solidFill>
                <a:latin typeface="Calibri" pitchFamily="34" charset="0"/>
                <a:ea typeface="Calibri" pitchFamily="34" charset="-122"/>
                <a:cs typeface="Calibri" pitchFamily="34" charset="-120"/>
              </a:rPr>
              <a:t>This project builds machine learning models to predict life expectancy (regression) and classify countries  high or low life expectancy (classification). We compare Linear Regression, Ridge, Lasso for regression, and Logistic Regression, KNN, Decision Tree, and SVM for classification.</a:t>
            </a:r>
            <a:endParaRPr lang="en-US" sz="1300" dirty="0"/>
          </a:p>
          <a:p>
            <a:pPr marL="0" indent="0">
              <a:lnSpc>
                <a:spcPct val="135000"/>
              </a:lnSpc>
              <a:buNone/>
            </a:pPr>
            <a:endParaRPr lang="en-US" sz="1300" dirty="0"/>
          </a:p>
          <a:p>
            <a:pPr marL="0" indent="0">
              <a:lnSpc>
                <a:spcPct val="135000"/>
              </a:lnSpc>
              <a:buNone/>
            </a:pPr>
            <a:r>
              <a:rPr lang="en-US" sz="1300" dirty="0">
                <a:solidFill>
                  <a:srgbClr val="2C1810"/>
                </a:solidFill>
                <a:latin typeface="Calibri" pitchFamily="34" charset="0"/>
                <a:ea typeface="Calibri" pitchFamily="34" charset="-122"/>
                <a:cs typeface="Calibri" pitchFamily="34" charset="-120"/>
              </a:rPr>
              <a:t>Our goal: identify which health and socioeconomic factors most strongly drive life expectancy and build models that can guide public health policy decisions.</a:t>
            </a:r>
            <a:endParaRPr lang="en-US" sz="1300" dirty="0"/>
          </a:p>
        </p:txBody>
      </p:sp>
      <p:sp>
        <p:nvSpPr>
          <p:cNvPr id="8" name="Text 6"/>
          <p:cNvSpPr/>
          <p:nvPr/>
        </p:nvSpPr>
        <p:spPr>
          <a:xfrm>
            <a:off x="5943600" y="1691640"/>
            <a:ext cx="2926080" cy="329184"/>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193</a:t>
            </a:r>
            <a:endParaRPr lang="en-US" sz="2000" dirty="0"/>
          </a:p>
        </p:txBody>
      </p:sp>
      <p:sp>
        <p:nvSpPr>
          <p:cNvPr id="9" name="Text 7"/>
          <p:cNvSpPr/>
          <p:nvPr/>
        </p:nvSpPr>
        <p:spPr>
          <a:xfrm>
            <a:off x="5943600" y="2002536"/>
            <a:ext cx="2926080" cy="274320"/>
          </a:xfrm>
          <a:prstGeom prst="rect">
            <a:avLst/>
          </a:prstGeom>
          <a:noFill/>
          <a:ln/>
        </p:spPr>
        <p:txBody>
          <a:bodyPr wrap="square" lIns="0" tIns="0" rIns="0" bIns="0" rtlCol="0" anchor="ctr"/>
          <a:lstStyle/>
          <a:p>
            <a:pPr marL="0" indent="0" algn="ctr">
              <a:lnSpc>
                <a:spcPct val="110000"/>
              </a:lnSpc>
              <a:buNone/>
            </a:pPr>
            <a:endParaRPr lang="en-US" sz="1000" dirty="0"/>
          </a:p>
        </p:txBody>
      </p:sp>
      <p:sp>
        <p:nvSpPr>
          <p:cNvPr id="10" name="Text 8"/>
          <p:cNvSpPr/>
          <p:nvPr/>
        </p:nvSpPr>
        <p:spPr>
          <a:xfrm>
            <a:off x="5943600" y="2331720"/>
            <a:ext cx="2926080" cy="329184"/>
          </a:xfrm>
          <a:prstGeom prst="rect">
            <a:avLst/>
          </a:prstGeom>
          <a:noFill/>
          <a:ln/>
        </p:spPr>
        <p:txBody>
          <a:bodyPr wrap="square" lIns="0" tIns="0" rIns="0" bIns="0" rtlCol="0" anchor="ctr"/>
          <a:lstStyle/>
          <a:p>
            <a:pPr marL="0" indent="0" algn="ctr">
              <a:buNone/>
            </a:pPr>
            <a:endParaRPr lang="en-US" sz="2000" dirty="0"/>
          </a:p>
        </p:txBody>
      </p:sp>
      <p:sp>
        <p:nvSpPr>
          <p:cNvPr id="11" name="Text 9"/>
          <p:cNvSpPr/>
          <p:nvPr/>
        </p:nvSpPr>
        <p:spPr>
          <a:xfrm>
            <a:off x="5943600" y="2642616"/>
            <a:ext cx="2926080" cy="274320"/>
          </a:xfrm>
          <a:prstGeom prst="rect">
            <a:avLst/>
          </a:prstGeom>
          <a:noFill/>
          <a:ln/>
        </p:spPr>
        <p:txBody>
          <a:bodyPr wrap="square" lIns="0" tIns="0" rIns="0" bIns="0" rtlCol="0" anchor="ctr"/>
          <a:lstStyle/>
          <a:p>
            <a:pPr marL="0" indent="0" algn="ctr">
              <a:lnSpc>
                <a:spcPct val="110000"/>
              </a:lnSpc>
              <a:buNone/>
            </a:pPr>
            <a:endParaRPr lang="en-US" sz="1000" dirty="0"/>
          </a:p>
        </p:txBody>
      </p:sp>
      <p:sp>
        <p:nvSpPr>
          <p:cNvPr id="12" name="Text 10"/>
          <p:cNvSpPr/>
          <p:nvPr/>
        </p:nvSpPr>
        <p:spPr>
          <a:xfrm>
            <a:off x="5943600" y="2971800"/>
            <a:ext cx="2926080" cy="329184"/>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2938</a:t>
            </a:r>
            <a:endParaRPr lang="en-US" sz="2000" dirty="0"/>
          </a:p>
        </p:txBody>
      </p:sp>
      <p:sp>
        <p:nvSpPr>
          <p:cNvPr id="13" name="Text 11"/>
          <p:cNvSpPr/>
          <p:nvPr/>
        </p:nvSpPr>
        <p:spPr>
          <a:xfrm>
            <a:off x="5943600" y="3282696"/>
            <a:ext cx="2926080" cy="274320"/>
          </a:xfrm>
          <a:prstGeom prst="rect">
            <a:avLst/>
          </a:prstGeom>
          <a:noFill/>
          <a:ln/>
        </p:spPr>
        <p:txBody>
          <a:bodyPr wrap="square" lIns="0" tIns="0" rIns="0" bIns="0" rtlCol="0" anchor="ctr"/>
          <a:lstStyle/>
          <a:p>
            <a:pPr marL="0" indent="0" algn="ctr">
              <a:lnSpc>
                <a:spcPct val="110000"/>
              </a:lnSpc>
              <a:buNone/>
            </a:pPr>
            <a:endParaRPr lang="en-US" sz="1000" dirty="0"/>
          </a:p>
        </p:txBody>
      </p:sp>
      <p:sp>
        <p:nvSpPr>
          <p:cNvPr id="14" name="Text 12"/>
          <p:cNvSpPr/>
          <p:nvPr/>
        </p:nvSpPr>
        <p:spPr>
          <a:xfrm>
            <a:off x="5943600" y="3611880"/>
            <a:ext cx="2926080" cy="329184"/>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2000–2015</a:t>
            </a:r>
            <a:endParaRPr lang="en-US" sz="2000" dirty="0"/>
          </a:p>
        </p:txBody>
      </p:sp>
      <p:sp>
        <p:nvSpPr>
          <p:cNvPr id="15" name="Text 13"/>
          <p:cNvSpPr/>
          <p:nvPr/>
        </p:nvSpPr>
        <p:spPr>
          <a:xfrm>
            <a:off x="6979920" y="3867912"/>
            <a:ext cx="2926080" cy="274320"/>
          </a:xfrm>
          <a:prstGeom prst="rect">
            <a:avLst/>
          </a:prstGeom>
          <a:noFill/>
          <a:ln/>
        </p:spPr>
        <p:txBody>
          <a:bodyPr wrap="square" lIns="0" tIns="0" rIns="0" bIns="0" rtlCol="0" anchor="ctr"/>
          <a:lstStyle/>
          <a:p>
            <a:pPr marL="0" indent="0" algn="ctr">
              <a:lnSpc>
                <a:spcPct val="110000"/>
              </a:lnSpc>
              <a:buNone/>
            </a:pPr>
            <a:endParaRPr lang="en-US" sz="1000" dirty="0"/>
          </a:p>
        </p:txBody>
      </p:sp>
      <p:sp>
        <p:nvSpPr>
          <p:cNvPr id="17" name="Text 15"/>
          <p:cNvSpPr/>
          <p:nvPr/>
        </p:nvSpPr>
        <p:spPr>
          <a:xfrm>
            <a:off x="5943600" y="4562856"/>
            <a:ext cx="2926080" cy="274320"/>
          </a:xfrm>
          <a:prstGeom prst="rect">
            <a:avLst/>
          </a:prstGeom>
          <a:noFill/>
          <a:ln/>
        </p:spPr>
        <p:txBody>
          <a:bodyPr wrap="square" lIns="0" tIns="0" rIns="0" bIns="0" rtlCol="0" anchor="ctr"/>
          <a:lstStyle/>
          <a:p>
            <a:pPr marL="0" indent="0" algn="ctr">
              <a:lnSpc>
                <a:spcPct val="110000"/>
              </a:lnSpc>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0D5"/>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2C1810"/>
          </a:solidFill>
          <a:ln w="12700">
            <a:solidFill>
              <a:srgbClr val="2C1810"/>
            </a:solidFill>
            <a:prstDash val="solid"/>
          </a:ln>
        </p:spPr>
      </p:sp>
      <p:sp>
        <p:nvSpPr>
          <p:cNvPr id="3" name="Text 1"/>
          <p:cNvSpPr/>
          <p:nvPr/>
        </p:nvSpPr>
        <p:spPr>
          <a:xfrm>
            <a:off x="274320" y="123568"/>
            <a:ext cx="3200400" cy="757881"/>
          </a:xfrm>
          <a:prstGeom prst="rect">
            <a:avLst/>
          </a:prstGeom>
          <a:noFill/>
          <a:ln/>
        </p:spPr>
        <p:txBody>
          <a:bodyPr wrap="square" lIns="0" tIns="0" rIns="0" bIns="0" rtlCol="0" anchor="ctr"/>
          <a:lstStyle/>
          <a:p>
            <a:pPr marL="0" indent="0">
              <a:buNone/>
            </a:pPr>
            <a:r>
              <a:rPr lang="en-US" sz="3800" dirty="0">
                <a:solidFill>
                  <a:srgbClr val="C8963C"/>
                </a:solidFill>
                <a:latin typeface="Georgia" pitchFamily="34" charset="0"/>
                <a:ea typeface="Georgia" pitchFamily="34" charset="-122"/>
                <a:cs typeface="Georgia" pitchFamily="34" charset="-120"/>
              </a:rPr>
              <a:t>Abstract</a:t>
            </a:r>
            <a:endParaRPr lang="en-US" sz="3800" dirty="0"/>
          </a:p>
        </p:txBody>
      </p:sp>
      <p:sp>
        <p:nvSpPr>
          <p:cNvPr id="4" name="Text 2"/>
          <p:cNvSpPr/>
          <p:nvPr/>
        </p:nvSpPr>
        <p:spPr>
          <a:xfrm>
            <a:off x="274320" y="881449"/>
            <a:ext cx="3200400" cy="3873431"/>
          </a:xfrm>
          <a:prstGeom prst="rect">
            <a:avLst/>
          </a:prstGeom>
          <a:noFill/>
          <a:ln/>
        </p:spPr>
        <p:txBody>
          <a:bodyPr wrap="square" lIns="0" tIns="0" rIns="0" bIns="0" rtlCol="0" anchor="t"/>
          <a:lstStyle/>
          <a:p>
            <a:pPr marL="0" indent="0">
              <a:lnSpc>
                <a:spcPct val="140000"/>
              </a:lnSpc>
              <a:buNone/>
            </a:pPr>
            <a:r>
              <a:rPr lang="en-US" sz="1200" dirty="0">
                <a:solidFill>
                  <a:srgbClr val="FFFFFF"/>
                </a:solidFill>
                <a:latin typeface="Calibri" pitchFamily="34" charset="0"/>
                <a:ea typeface="Calibri" pitchFamily="34" charset="-122"/>
                <a:cs typeface="Calibri" pitchFamily="34" charset="-120"/>
              </a:rPr>
              <a:t>This project applies machine learning to predict life expectancy using the WHO dataset (193 countries, 2000–2015).</a:t>
            </a:r>
            <a:endParaRPr lang="en-US" sz="1200" dirty="0"/>
          </a:p>
          <a:p>
            <a:pPr marL="0" indent="0">
              <a:lnSpc>
                <a:spcPct val="140000"/>
              </a:lnSpc>
              <a:buNone/>
            </a:pPr>
            <a:endParaRPr lang="en-US" sz="1200" dirty="0"/>
          </a:p>
          <a:p>
            <a:pPr marL="0" indent="0">
              <a:lnSpc>
                <a:spcPct val="140000"/>
              </a:lnSpc>
              <a:buNone/>
            </a:pPr>
            <a:r>
              <a:rPr lang="en-US" sz="1200" dirty="0">
                <a:solidFill>
                  <a:srgbClr val="FFFFFF"/>
                </a:solidFill>
                <a:latin typeface="Calibri" pitchFamily="34" charset="0"/>
                <a:ea typeface="Calibri" pitchFamily="34" charset="-122"/>
                <a:cs typeface="Calibri" pitchFamily="34" charset="-120"/>
              </a:rPr>
              <a:t>REGRESSION: Linear Regression, Ridge, and Lasso models predict life expectancy as a continuous value. Best model: Ridge (α=10) with R²=0.8534.</a:t>
            </a:r>
            <a:endParaRPr lang="en-US" sz="1200" dirty="0"/>
          </a:p>
          <a:p>
            <a:pPr marL="0" indent="0">
              <a:lnSpc>
                <a:spcPct val="140000"/>
              </a:lnSpc>
              <a:buNone/>
            </a:pPr>
            <a:endParaRPr lang="en-US" sz="1200" dirty="0"/>
          </a:p>
          <a:p>
            <a:pPr marL="0" indent="0">
              <a:lnSpc>
                <a:spcPct val="140000"/>
              </a:lnSpc>
              <a:buNone/>
            </a:pPr>
            <a:r>
              <a:rPr lang="en-US" sz="1200" dirty="0">
                <a:solidFill>
                  <a:srgbClr val="FFFFFF"/>
                </a:solidFill>
                <a:latin typeface="Calibri" pitchFamily="34" charset="0"/>
                <a:ea typeface="Calibri" pitchFamily="34" charset="-122"/>
                <a:cs typeface="Calibri" pitchFamily="34" charset="-120"/>
              </a:rPr>
              <a:t>CLASSIFICATION: Logistic Regression, KNN, Decision Tree, and SVM models classify countries as High or Low life expectancy (binary split at median). All models tuned with GridSearchCV (5-fold CV).</a:t>
            </a:r>
            <a:endParaRPr lang="en-US" sz="1200" dirty="0"/>
          </a:p>
          <a:p>
            <a:pPr marL="0" indent="0">
              <a:lnSpc>
                <a:spcPct val="140000"/>
              </a:lnSpc>
              <a:buNone/>
            </a:pPr>
            <a:endParaRPr lang="en-US" sz="1200" dirty="0"/>
          </a:p>
          <a:p>
            <a:pPr marL="0" indent="0">
              <a:lnSpc>
                <a:spcPct val="140000"/>
              </a:lnSpc>
              <a:buNone/>
            </a:pPr>
            <a:r>
              <a:rPr lang="en-US" sz="1200" dirty="0">
                <a:solidFill>
                  <a:srgbClr val="FFFFFF"/>
                </a:solidFill>
                <a:latin typeface="Calibri" pitchFamily="34" charset="0"/>
                <a:ea typeface="Calibri" pitchFamily="34" charset="-122"/>
                <a:cs typeface="Calibri" pitchFamily="34" charset="-120"/>
              </a:rPr>
              <a:t>Key finding: Schooling, Income Composition, and Adult Mortality are the strongest predictors of life expectancy globally.</a:t>
            </a:r>
            <a:endParaRPr lang="en-US" sz="1200" dirty="0"/>
          </a:p>
        </p:txBody>
      </p:sp>
      <p:sp>
        <p:nvSpPr>
          <p:cNvPr id="5" name="Shape 3"/>
          <p:cNvSpPr/>
          <p:nvPr/>
        </p:nvSpPr>
        <p:spPr>
          <a:xfrm>
            <a:off x="3886200" y="457200"/>
            <a:ext cx="2423160" cy="2011680"/>
          </a:xfrm>
          <a:prstGeom prst="rect">
            <a:avLst/>
          </a:prstGeom>
          <a:solidFill>
            <a:srgbClr val="FFFFFF"/>
          </a:solidFill>
          <a:ln w="12700">
            <a:solidFill>
              <a:srgbClr val="C8963C"/>
            </a:solidFill>
            <a:prstDash val="solid"/>
          </a:ln>
        </p:spPr>
      </p:sp>
      <p:sp>
        <p:nvSpPr>
          <p:cNvPr id="6" name="Text 4"/>
          <p:cNvSpPr/>
          <p:nvPr/>
        </p:nvSpPr>
        <p:spPr>
          <a:xfrm>
            <a:off x="3886200" y="777240"/>
            <a:ext cx="2423160" cy="868680"/>
          </a:xfrm>
          <a:prstGeom prst="rect">
            <a:avLst/>
          </a:prstGeom>
          <a:noFill/>
          <a:ln/>
        </p:spPr>
        <p:txBody>
          <a:bodyPr wrap="square" lIns="0" tIns="0" rIns="0" bIns="0" rtlCol="0" anchor="ctr"/>
          <a:lstStyle/>
          <a:p>
            <a:pPr marL="0" indent="0" algn="ctr">
              <a:buNone/>
            </a:pPr>
            <a:r>
              <a:rPr lang="en-US" sz="3000" b="1" dirty="0">
                <a:solidFill>
                  <a:srgbClr val="5C3317"/>
                </a:solidFill>
                <a:latin typeface="Franklin Gothic Medium" panose="020B0603020102020204" pitchFamily="34" charset="0"/>
                <a:ea typeface="Georgia" pitchFamily="34" charset="-122"/>
                <a:cs typeface="Georgia" pitchFamily="34" charset="-120"/>
              </a:rPr>
              <a:t>0.8534</a:t>
            </a:r>
            <a:endParaRPr lang="en-US" sz="3000" dirty="0">
              <a:latin typeface="Franklin Gothic Medium" panose="020B0603020102020204" pitchFamily="34" charset="0"/>
            </a:endParaRPr>
          </a:p>
        </p:txBody>
      </p:sp>
      <p:sp>
        <p:nvSpPr>
          <p:cNvPr id="7" name="Text 5"/>
          <p:cNvSpPr/>
          <p:nvPr/>
        </p:nvSpPr>
        <p:spPr>
          <a:xfrm>
            <a:off x="3886200" y="1691640"/>
            <a:ext cx="2423160" cy="640080"/>
          </a:xfrm>
          <a:prstGeom prst="rect">
            <a:avLst/>
          </a:prstGeom>
          <a:noFill/>
          <a:ln/>
        </p:spPr>
        <p:txBody>
          <a:bodyPr wrap="square" lIns="0" tIns="0" rIns="0" bIns="0" rtlCol="0" anchor="ctr"/>
          <a:lstStyle/>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Best R²</a:t>
            </a:r>
            <a:endParaRPr lang="en-US" sz="1200" dirty="0"/>
          </a:p>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(Ridge α=10)</a:t>
            </a:r>
            <a:endParaRPr lang="en-US" sz="1200" dirty="0"/>
          </a:p>
        </p:txBody>
      </p:sp>
      <p:sp>
        <p:nvSpPr>
          <p:cNvPr id="8" name="Shape 6"/>
          <p:cNvSpPr/>
          <p:nvPr/>
        </p:nvSpPr>
        <p:spPr>
          <a:xfrm>
            <a:off x="6492240" y="457200"/>
            <a:ext cx="2423160" cy="2011680"/>
          </a:xfrm>
          <a:prstGeom prst="rect">
            <a:avLst/>
          </a:prstGeom>
          <a:solidFill>
            <a:srgbClr val="FFFFFF"/>
          </a:solidFill>
          <a:ln w="12700">
            <a:solidFill>
              <a:srgbClr val="C8963C"/>
            </a:solidFill>
            <a:prstDash val="solid"/>
          </a:ln>
        </p:spPr>
      </p:sp>
      <p:sp>
        <p:nvSpPr>
          <p:cNvPr id="9" name="Text 7"/>
          <p:cNvSpPr/>
          <p:nvPr/>
        </p:nvSpPr>
        <p:spPr>
          <a:xfrm>
            <a:off x="6492240" y="777240"/>
            <a:ext cx="2423160" cy="868680"/>
          </a:xfrm>
          <a:prstGeom prst="rect">
            <a:avLst/>
          </a:prstGeom>
          <a:noFill/>
          <a:ln/>
        </p:spPr>
        <p:txBody>
          <a:bodyPr wrap="square" lIns="0" tIns="0" rIns="0" bIns="0" rtlCol="0" anchor="ctr"/>
          <a:lstStyle/>
          <a:p>
            <a:pPr marL="0" indent="0" algn="ctr">
              <a:buNone/>
            </a:pPr>
            <a:r>
              <a:rPr lang="en-US" sz="3000" b="1" dirty="0">
                <a:solidFill>
                  <a:srgbClr val="5C3317"/>
                </a:solidFill>
                <a:latin typeface="Georgia" pitchFamily="34" charset="0"/>
                <a:ea typeface="Georgia" pitchFamily="34" charset="-122"/>
                <a:cs typeface="Georgia" pitchFamily="34" charset="-120"/>
              </a:rPr>
              <a:t>4</a:t>
            </a:r>
            <a:endParaRPr lang="en-US" sz="3000" dirty="0"/>
          </a:p>
        </p:txBody>
      </p:sp>
      <p:sp>
        <p:nvSpPr>
          <p:cNvPr id="10" name="Text 8"/>
          <p:cNvSpPr/>
          <p:nvPr/>
        </p:nvSpPr>
        <p:spPr>
          <a:xfrm>
            <a:off x="6492240" y="1691640"/>
            <a:ext cx="2423160" cy="640080"/>
          </a:xfrm>
          <a:prstGeom prst="rect">
            <a:avLst/>
          </a:prstGeom>
          <a:noFill/>
          <a:ln/>
        </p:spPr>
        <p:txBody>
          <a:bodyPr wrap="square" lIns="0" tIns="0" rIns="0" bIns="0" rtlCol="0" anchor="ctr"/>
          <a:lstStyle/>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Models trained</a:t>
            </a:r>
            <a:endParaRPr lang="en-US" sz="1200" dirty="0"/>
          </a:p>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(Classification)</a:t>
            </a:r>
            <a:endParaRPr lang="en-US" sz="1200" dirty="0"/>
          </a:p>
        </p:txBody>
      </p:sp>
      <p:sp>
        <p:nvSpPr>
          <p:cNvPr id="11" name="Shape 9"/>
          <p:cNvSpPr/>
          <p:nvPr/>
        </p:nvSpPr>
        <p:spPr>
          <a:xfrm>
            <a:off x="3886200" y="2743200"/>
            <a:ext cx="2423160" cy="2011680"/>
          </a:xfrm>
          <a:prstGeom prst="rect">
            <a:avLst/>
          </a:prstGeom>
          <a:solidFill>
            <a:srgbClr val="FFFFFF"/>
          </a:solidFill>
          <a:ln w="12700">
            <a:solidFill>
              <a:srgbClr val="C8963C"/>
            </a:solidFill>
            <a:prstDash val="solid"/>
          </a:ln>
        </p:spPr>
      </p:sp>
      <p:sp>
        <p:nvSpPr>
          <p:cNvPr id="12" name="Text 10"/>
          <p:cNvSpPr/>
          <p:nvPr/>
        </p:nvSpPr>
        <p:spPr>
          <a:xfrm>
            <a:off x="3886200" y="3063240"/>
            <a:ext cx="2423160" cy="868680"/>
          </a:xfrm>
          <a:prstGeom prst="rect">
            <a:avLst/>
          </a:prstGeom>
          <a:noFill/>
          <a:ln/>
        </p:spPr>
        <p:txBody>
          <a:bodyPr wrap="square" lIns="0" tIns="0" rIns="0" bIns="0" rtlCol="0" anchor="ctr"/>
          <a:lstStyle/>
          <a:p>
            <a:pPr marL="0" indent="0" algn="ctr">
              <a:buNone/>
            </a:pPr>
            <a:r>
              <a:rPr lang="en-US" sz="3000" b="1" dirty="0">
                <a:solidFill>
                  <a:srgbClr val="5C3317"/>
                </a:solidFill>
                <a:latin typeface="Franklin Gothic Medium" panose="020B0603020102020204" pitchFamily="34" charset="0"/>
                <a:ea typeface="Georgia" pitchFamily="34" charset="-122"/>
                <a:cs typeface="Georgia" pitchFamily="34" charset="-120"/>
              </a:rPr>
              <a:t>5 - fold</a:t>
            </a:r>
            <a:endParaRPr lang="en-US" sz="3000" dirty="0">
              <a:latin typeface="Franklin Gothic Medium" panose="020B0603020102020204" pitchFamily="34" charset="0"/>
            </a:endParaRPr>
          </a:p>
        </p:txBody>
      </p:sp>
      <p:sp>
        <p:nvSpPr>
          <p:cNvPr id="13" name="Text 11"/>
          <p:cNvSpPr/>
          <p:nvPr/>
        </p:nvSpPr>
        <p:spPr>
          <a:xfrm>
            <a:off x="3886200" y="3977640"/>
            <a:ext cx="2423160" cy="640080"/>
          </a:xfrm>
          <a:prstGeom prst="rect">
            <a:avLst/>
          </a:prstGeom>
          <a:noFill/>
          <a:ln/>
        </p:spPr>
        <p:txBody>
          <a:bodyPr wrap="square" lIns="0" tIns="0" rIns="0" bIns="0" rtlCol="0" anchor="ctr"/>
          <a:lstStyle/>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Cross-validation</a:t>
            </a:r>
            <a:endParaRPr lang="en-US" sz="1200" dirty="0"/>
          </a:p>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used</a:t>
            </a:r>
            <a:endParaRPr lang="en-US" sz="1200" dirty="0"/>
          </a:p>
        </p:txBody>
      </p:sp>
      <p:sp>
        <p:nvSpPr>
          <p:cNvPr id="14" name="Shape 12"/>
          <p:cNvSpPr/>
          <p:nvPr/>
        </p:nvSpPr>
        <p:spPr>
          <a:xfrm>
            <a:off x="6492240" y="2743200"/>
            <a:ext cx="2423160" cy="2011680"/>
          </a:xfrm>
          <a:prstGeom prst="rect">
            <a:avLst/>
          </a:prstGeom>
          <a:solidFill>
            <a:srgbClr val="FFFFFF"/>
          </a:solidFill>
          <a:ln w="12700">
            <a:solidFill>
              <a:srgbClr val="C8963C"/>
            </a:solidFill>
            <a:prstDash val="solid"/>
          </a:ln>
        </p:spPr>
      </p:sp>
      <p:sp>
        <p:nvSpPr>
          <p:cNvPr id="15" name="Text 13"/>
          <p:cNvSpPr/>
          <p:nvPr/>
        </p:nvSpPr>
        <p:spPr>
          <a:xfrm>
            <a:off x="6492240" y="3063240"/>
            <a:ext cx="2423160" cy="868680"/>
          </a:xfrm>
          <a:prstGeom prst="rect">
            <a:avLst/>
          </a:prstGeom>
          <a:noFill/>
          <a:ln/>
        </p:spPr>
        <p:txBody>
          <a:bodyPr wrap="square" lIns="0" tIns="0" rIns="0" bIns="0" rtlCol="0" anchor="ctr"/>
          <a:lstStyle/>
          <a:p>
            <a:pPr marL="0" indent="0" algn="ctr">
              <a:buNone/>
            </a:pPr>
            <a:r>
              <a:rPr lang="en-US" sz="3000" b="1" dirty="0">
                <a:solidFill>
                  <a:srgbClr val="5C3317"/>
                </a:solidFill>
                <a:latin typeface="Georgia" pitchFamily="34" charset="0"/>
                <a:ea typeface="Georgia" pitchFamily="34" charset="-122"/>
                <a:cs typeface="Georgia" pitchFamily="34" charset="-120"/>
              </a:rPr>
              <a:t>~</a:t>
            </a:r>
            <a:r>
              <a:rPr lang="en-US" sz="3000" b="1" dirty="0">
                <a:solidFill>
                  <a:srgbClr val="5C3317"/>
                </a:solidFill>
                <a:latin typeface="Franklin Gothic Medium" panose="020B0603020102020204" pitchFamily="34" charset="0"/>
                <a:ea typeface="Georgia" pitchFamily="34" charset="-122"/>
                <a:cs typeface="Georgia" pitchFamily="34" charset="-120"/>
              </a:rPr>
              <a:t>85.3</a:t>
            </a:r>
            <a:r>
              <a:rPr lang="en-US" sz="3000" b="1" dirty="0">
                <a:solidFill>
                  <a:srgbClr val="5C3317"/>
                </a:solidFill>
                <a:latin typeface="Georgia" pitchFamily="34" charset="0"/>
                <a:ea typeface="Georgia" pitchFamily="34" charset="-122"/>
                <a:cs typeface="Georgia" pitchFamily="34" charset="-120"/>
              </a:rPr>
              <a:t>%</a:t>
            </a:r>
            <a:endParaRPr lang="en-US" sz="3000" dirty="0"/>
          </a:p>
        </p:txBody>
      </p:sp>
      <p:sp>
        <p:nvSpPr>
          <p:cNvPr id="16" name="Text 14"/>
          <p:cNvSpPr/>
          <p:nvPr/>
        </p:nvSpPr>
        <p:spPr>
          <a:xfrm>
            <a:off x="6492240" y="3977640"/>
            <a:ext cx="2423160" cy="640080"/>
          </a:xfrm>
          <a:prstGeom prst="rect">
            <a:avLst/>
          </a:prstGeom>
          <a:noFill/>
          <a:ln/>
        </p:spPr>
        <p:txBody>
          <a:bodyPr wrap="square" lIns="0" tIns="0" rIns="0" bIns="0" rtlCol="0" anchor="ctr"/>
          <a:lstStyle/>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Variance</a:t>
            </a:r>
            <a:endParaRPr lang="en-US" sz="1200" dirty="0"/>
          </a:p>
          <a:p>
            <a:pPr marL="0" indent="0" algn="ctr">
              <a:lnSpc>
                <a:spcPct val="120000"/>
              </a:lnSpc>
              <a:buNone/>
            </a:pPr>
            <a:r>
              <a:rPr lang="en-US" sz="1200" dirty="0">
                <a:solidFill>
                  <a:srgbClr val="8A7060"/>
                </a:solidFill>
                <a:latin typeface="Calibri" pitchFamily="34" charset="0"/>
                <a:ea typeface="Calibri" pitchFamily="34" charset="-122"/>
                <a:cs typeface="Calibri" pitchFamily="34" charset="-120"/>
              </a:rPr>
              <a:t>explained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963C"/>
          </a:solidFill>
          <a:ln w="12700">
            <a:solidFill>
              <a:srgbClr val="C8963C"/>
            </a:solidFill>
            <a:prstDash val="solid"/>
          </a:ln>
        </p:spPr>
      </p:sp>
      <p:sp>
        <p:nvSpPr>
          <p:cNvPr id="3" name="Text 1"/>
          <p:cNvSpPr/>
          <p:nvPr/>
        </p:nvSpPr>
        <p:spPr>
          <a:xfrm>
            <a:off x="347472" y="256032"/>
            <a:ext cx="8412480" cy="658368"/>
          </a:xfrm>
          <a:prstGeom prst="rect">
            <a:avLst/>
          </a:prstGeom>
          <a:noFill/>
          <a:ln/>
        </p:spPr>
        <p:txBody>
          <a:bodyPr wrap="square" lIns="0" tIns="0" rIns="0" bIns="0" rtlCol="0" anchor="ctr"/>
          <a:lstStyle/>
          <a:p>
            <a:pPr marL="0" indent="0">
              <a:buNone/>
            </a:pPr>
            <a:r>
              <a:rPr lang="en-US" sz="3800" dirty="0">
                <a:solidFill>
                  <a:srgbClr val="5C3317"/>
                </a:solidFill>
                <a:latin typeface="Georgia" pitchFamily="34" charset="0"/>
                <a:ea typeface="Georgia" pitchFamily="34" charset="-122"/>
                <a:cs typeface="Georgia" pitchFamily="34" charset="-120"/>
              </a:rPr>
              <a:t>Problem Statement</a:t>
            </a:r>
            <a:endParaRPr lang="en-US" sz="3800" dirty="0"/>
          </a:p>
        </p:txBody>
      </p:sp>
      <p:sp>
        <p:nvSpPr>
          <p:cNvPr id="4" name="Text 2"/>
          <p:cNvSpPr/>
          <p:nvPr/>
        </p:nvSpPr>
        <p:spPr>
          <a:xfrm>
            <a:off x="347472" y="1178011"/>
            <a:ext cx="5120640" cy="1976669"/>
          </a:xfrm>
          <a:prstGeom prst="rect">
            <a:avLst/>
          </a:prstGeom>
          <a:noFill/>
          <a:ln/>
        </p:spPr>
        <p:txBody>
          <a:bodyPr wrap="square" lIns="0" tIns="0" rIns="0" bIns="0" rtlCol="0" anchor="t"/>
          <a:lstStyle/>
          <a:p>
            <a:pPr marL="0" indent="0">
              <a:lnSpc>
                <a:spcPct val="135000"/>
              </a:lnSpc>
              <a:buNone/>
            </a:pPr>
            <a:r>
              <a:rPr lang="en-US" sz="1300" dirty="0">
                <a:solidFill>
                  <a:srgbClr val="2C1810"/>
                </a:solidFill>
                <a:latin typeface="Calibri" pitchFamily="34" charset="0"/>
                <a:ea typeface="Calibri" pitchFamily="34" charset="-122"/>
                <a:cs typeface="Calibri" pitchFamily="34" charset="-120"/>
              </a:rPr>
              <a:t>Life expectancy varies dramatically across nations — from under 50 years in some developing countries to over 85 in developed ones. Understanding what drives these differences is critical for targeted public health policy.</a:t>
            </a:r>
            <a:endParaRPr lang="en-US" sz="1300" dirty="0"/>
          </a:p>
          <a:p>
            <a:pPr marL="0" indent="0">
              <a:lnSpc>
                <a:spcPct val="135000"/>
              </a:lnSpc>
              <a:buNone/>
            </a:pPr>
            <a:endParaRPr lang="en-US" sz="1300" dirty="0"/>
          </a:p>
          <a:p>
            <a:pPr marL="0" indent="0">
              <a:lnSpc>
                <a:spcPct val="135000"/>
              </a:lnSpc>
              <a:buNone/>
            </a:pPr>
            <a:r>
              <a:rPr lang="en-US" sz="1300" dirty="0">
                <a:solidFill>
                  <a:srgbClr val="2C1810"/>
                </a:solidFill>
                <a:latin typeface="Calibri" pitchFamily="34" charset="0"/>
                <a:ea typeface="Calibri" pitchFamily="34" charset="-122"/>
                <a:cs typeface="Calibri" pitchFamily="34" charset="-120"/>
              </a:rPr>
              <a:t>Traditional analysis often focuses on single variables. Machine learning allows us to model complex, nonlinear interactions between health, economic, and social factors.</a:t>
            </a:r>
            <a:endParaRPr lang="en-US" sz="1300" dirty="0"/>
          </a:p>
        </p:txBody>
      </p:sp>
      <p:sp>
        <p:nvSpPr>
          <p:cNvPr id="5" name="Shape 3"/>
          <p:cNvSpPr/>
          <p:nvPr/>
        </p:nvSpPr>
        <p:spPr>
          <a:xfrm>
            <a:off x="347472" y="3474720"/>
            <a:ext cx="5120640" cy="1006664"/>
          </a:xfrm>
          <a:prstGeom prst="rect">
            <a:avLst/>
          </a:prstGeom>
          <a:solidFill>
            <a:srgbClr val="2C1810"/>
          </a:solidFill>
          <a:ln w="12700">
            <a:solidFill>
              <a:srgbClr val="2C1810"/>
            </a:solidFill>
            <a:prstDash val="solid"/>
          </a:ln>
        </p:spPr>
      </p:sp>
      <p:sp>
        <p:nvSpPr>
          <p:cNvPr id="6" name="Text 4"/>
          <p:cNvSpPr/>
          <p:nvPr/>
        </p:nvSpPr>
        <p:spPr>
          <a:xfrm>
            <a:off x="347472" y="3474720"/>
            <a:ext cx="5120640" cy="10066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How accurately can we predict a country's life expectancy,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and classify it as high or low, using health &amp; economic indicators?</a:t>
            </a:r>
            <a:endParaRPr lang="en-US" sz="1300" dirty="0"/>
          </a:p>
        </p:txBody>
      </p:sp>
      <p:sp>
        <p:nvSpPr>
          <p:cNvPr id="7" name="Shape 5"/>
          <p:cNvSpPr/>
          <p:nvPr/>
        </p:nvSpPr>
        <p:spPr>
          <a:xfrm>
            <a:off x="5715000" y="548640"/>
            <a:ext cx="3246120" cy="1280160"/>
          </a:xfrm>
          <a:prstGeom prst="rect">
            <a:avLst/>
          </a:prstGeom>
          <a:solidFill>
            <a:srgbClr val="F5F0E8"/>
          </a:solidFill>
          <a:ln w="12700">
            <a:solidFill>
              <a:srgbClr val="D4A96A"/>
            </a:solidFill>
            <a:prstDash val="solid"/>
          </a:ln>
        </p:spPr>
      </p:sp>
      <p:sp>
        <p:nvSpPr>
          <p:cNvPr id="8" name="Shape 6"/>
          <p:cNvSpPr/>
          <p:nvPr/>
        </p:nvSpPr>
        <p:spPr>
          <a:xfrm>
            <a:off x="5715000" y="548640"/>
            <a:ext cx="109728" cy="1280160"/>
          </a:xfrm>
          <a:prstGeom prst="rect">
            <a:avLst/>
          </a:prstGeom>
          <a:solidFill>
            <a:srgbClr val="C8963C"/>
          </a:solidFill>
          <a:ln w="12700">
            <a:solidFill>
              <a:srgbClr val="C8963C"/>
            </a:solidFill>
            <a:prstDash val="solid"/>
          </a:ln>
        </p:spPr>
      </p:sp>
      <p:sp>
        <p:nvSpPr>
          <p:cNvPr id="9" name="Text 7"/>
          <p:cNvSpPr/>
          <p:nvPr/>
        </p:nvSpPr>
        <p:spPr>
          <a:xfrm>
            <a:off x="5897880" y="640080"/>
            <a:ext cx="2971800" cy="347472"/>
          </a:xfrm>
          <a:prstGeom prst="rect">
            <a:avLst/>
          </a:prstGeom>
          <a:noFill/>
          <a:ln/>
        </p:spPr>
        <p:txBody>
          <a:bodyPr wrap="square" lIns="0" tIns="0" rIns="0" bIns="0" rtlCol="0" anchor="ctr"/>
          <a:lstStyle/>
          <a:p>
            <a:pPr marL="0" indent="0">
              <a:buNone/>
            </a:pPr>
            <a:r>
              <a:rPr lang="en-US" sz="1250" b="1" dirty="0">
                <a:solidFill>
                  <a:srgbClr val="5C3317"/>
                </a:solidFill>
                <a:latin typeface="Calibri" pitchFamily="34" charset="0"/>
                <a:ea typeface="Calibri" pitchFamily="34" charset="-122"/>
                <a:cs typeface="Calibri" pitchFamily="34" charset="-120"/>
              </a:rPr>
              <a:t>~15% Missing Data</a:t>
            </a:r>
            <a:endParaRPr lang="en-US" sz="1250" dirty="0"/>
          </a:p>
        </p:txBody>
      </p:sp>
      <p:sp>
        <p:nvSpPr>
          <p:cNvPr id="10" name="Text 8"/>
          <p:cNvSpPr/>
          <p:nvPr/>
        </p:nvSpPr>
        <p:spPr>
          <a:xfrm>
            <a:off x="5897880" y="1005840"/>
            <a:ext cx="2971800" cy="68580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Multiple features had significant missing values — imputed with column median</a:t>
            </a:r>
            <a:endParaRPr lang="en-US" sz="1100" dirty="0"/>
          </a:p>
        </p:txBody>
      </p:sp>
      <p:sp>
        <p:nvSpPr>
          <p:cNvPr id="11" name="Shape 9"/>
          <p:cNvSpPr/>
          <p:nvPr/>
        </p:nvSpPr>
        <p:spPr>
          <a:xfrm>
            <a:off x="5715000" y="2011680"/>
            <a:ext cx="3246120" cy="1280160"/>
          </a:xfrm>
          <a:prstGeom prst="rect">
            <a:avLst/>
          </a:prstGeom>
          <a:solidFill>
            <a:srgbClr val="F5F0E8"/>
          </a:solidFill>
          <a:ln w="12700">
            <a:solidFill>
              <a:srgbClr val="D4A96A"/>
            </a:solidFill>
            <a:prstDash val="solid"/>
          </a:ln>
        </p:spPr>
      </p:sp>
      <p:sp>
        <p:nvSpPr>
          <p:cNvPr id="12" name="Shape 10"/>
          <p:cNvSpPr/>
          <p:nvPr/>
        </p:nvSpPr>
        <p:spPr>
          <a:xfrm>
            <a:off x="5715000" y="2011680"/>
            <a:ext cx="109728" cy="1280160"/>
          </a:xfrm>
          <a:prstGeom prst="rect">
            <a:avLst/>
          </a:prstGeom>
          <a:solidFill>
            <a:srgbClr val="C8963C"/>
          </a:solidFill>
          <a:ln w="12700">
            <a:solidFill>
              <a:srgbClr val="C8963C"/>
            </a:solidFill>
            <a:prstDash val="solid"/>
          </a:ln>
        </p:spPr>
      </p:sp>
      <p:sp>
        <p:nvSpPr>
          <p:cNvPr id="13" name="Text 11"/>
          <p:cNvSpPr/>
          <p:nvPr/>
        </p:nvSpPr>
        <p:spPr>
          <a:xfrm>
            <a:off x="5897880" y="2103120"/>
            <a:ext cx="2971800" cy="347472"/>
          </a:xfrm>
          <a:prstGeom prst="rect">
            <a:avLst/>
          </a:prstGeom>
          <a:noFill/>
          <a:ln/>
        </p:spPr>
        <p:txBody>
          <a:bodyPr wrap="square" lIns="0" tIns="0" rIns="0" bIns="0" rtlCol="0" anchor="ctr"/>
          <a:lstStyle/>
          <a:p>
            <a:pPr marL="0" indent="0">
              <a:buNone/>
            </a:pPr>
            <a:r>
              <a:rPr lang="en-US" sz="1250" b="1" dirty="0">
                <a:solidFill>
                  <a:srgbClr val="5C3317"/>
                </a:solidFill>
                <a:latin typeface="Calibri" pitchFamily="34" charset="0"/>
                <a:ea typeface="Calibri" pitchFamily="34" charset="-122"/>
                <a:cs typeface="Calibri" pitchFamily="34" charset="-120"/>
              </a:rPr>
              <a:t>Multicollinearity</a:t>
            </a:r>
            <a:endParaRPr lang="en-US" sz="1250" dirty="0"/>
          </a:p>
        </p:txBody>
      </p:sp>
      <p:sp>
        <p:nvSpPr>
          <p:cNvPr id="14" name="Text 12"/>
          <p:cNvSpPr/>
          <p:nvPr/>
        </p:nvSpPr>
        <p:spPr>
          <a:xfrm>
            <a:off x="5897880" y="2468880"/>
            <a:ext cx="2971800" cy="68580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High feature correlation required regularization (Ridge, Lasso) to prevent overfitting</a:t>
            </a:r>
            <a:endParaRPr lang="en-US" sz="1100" dirty="0"/>
          </a:p>
        </p:txBody>
      </p:sp>
      <p:sp>
        <p:nvSpPr>
          <p:cNvPr id="15" name="Shape 13"/>
          <p:cNvSpPr/>
          <p:nvPr/>
        </p:nvSpPr>
        <p:spPr>
          <a:xfrm>
            <a:off x="5715000" y="3474720"/>
            <a:ext cx="3246120" cy="1280160"/>
          </a:xfrm>
          <a:prstGeom prst="rect">
            <a:avLst/>
          </a:prstGeom>
          <a:solidFill>
            <a:srgbClr val="F5F0E8"/>
          </a:solidFill>
          <a:ln w="12700">
            <a:solidFill>
              <a:srgbClr val="D4A96A"/>
            </a:solidFill>
            <a:prstDash val="solid"/>
          </a:ln>
        </p:spPr>
      </p:sp>
      <p:sp>
        <p:nvSpPr>
          <p:cNvPr id="16" name="Shape 14"/>
          <p:cNvSpPr/>
          <p:nvPr/>
        </p:nvSpPr>
        <p:spPr>
          <a:xfrm>
            <a:off x="5715000" y="3474720"/>
            <a:ext cx="109728" cy="1280160"/>
          </a:xfrm>
          <a:prstGeom prst="rect">
            <a:avLst/>
          </a:prstGeom>
          <a:solidFill>
            <a:srgbClr val="C8963C"/>
          </a:solidFill>
          <a:ln w="12700">
            <a:solidFill>
              <a:srgbClr val="C8963C"/>
            </a:solidFill>
            <a:prstDash val="solid"/>
          </a:ln>
        </p:spPr>
      </p:sp>
      <p:sp>
        <p:nvSpPr>
          <p:cNvPr id="17" name="Text 15"/>
          <p:cNvSpPr/>
          <p:nvPr/>
        </p:nvSpPr>
        <p:spPr>
          <a:xfrm>
            <a:off x="5897880" y="3566160"/>
            <a:ext cx="2971800" cy="347472"/>
          </a:xfrm>
          <a:prstGeom prst="rect">
            <a:avLst/>
          </a:prstGeom>
          <a:noFill/>
          <a:ln/>
        </p:spPr>
        <p:txBody>
          <a:bodyPr wrap="square" lIns="0" tIns="0" rIns="0" bIns="0" rtlCol="0" anchor="ctr"/>
          <a:lstStyle/>
          <a:p>
            <a:pPr marL="0" indent="0">
              <a:buNone/>
            </a:pPr>
            <a:r>
              <a:rPr lang="en-US" sz="1250" b="1" dirty="0">
                <a:solidFill>
                  <a:srgbClr val="5C3317"/>
                </a:solidFill>
                <a:latin typeface="Calibri" pitchFamily="34" charset="0"/>
                <a:ea typeface="Calibri" pitchFamily="34" charset="-122"/>
                <a:cs typeface="Calibri" pitchFamily="34" charset="-120"/>
              </a:rPr>
              <a:t>100+ Countries</a:t>
            </a:r>
            <a:endParaRPr lang="en-US" sz="1250" dirty="0"/>
          </a:p>
        </p:txBody>
      </p:sp>
      <p:sp>
        <p:nvSpPr>
          <p:cNvPr id="18" name="Text 16"/>
          <p:cNvSpPr/>
          <p:nvPr/>
        </p:nvSpPr>
        <p:spPr>
          <a:xfrm>
            <a:off x="5897880" y="3931920"/>
            <a:ext cx="2971800" cy="68580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Country column dropped — too many categories with no meaningful numeric pattern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1810"/>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marL="0" indent="0">
              <a:buNone/>
            </a:pPr>
            <a:r>
              <a:rPr lang="en-US" sz="3800" dirty="0">
                <a:solidFill>
                  <a:srgbClr val="C8963C"/>
                </a:solidFill>
                <a:latin typeface="Georgia" pitchFamily="34" charset="0"/>
                <a:ea typeface="Georgia" pitchFamily="34" charset="-122"/>
                <a:cs typeface="Georgia" pitchFamily="34" charset="-120"/>
              </a:rPr>
              <a:t>Objectives</a:t>
            </a:r>
            <a:endParaRPr lang="en-US" sz="3800" dirty="0"/>
          </a:p>
        </p:txBody>
      </p:sp>
      <p:sp>
        <p:nvSpPr>
          <p:cNvPr id="3" name="Shape 1"/>
          <p:cNvSpPr/>
          <p:nvPr/>
        </p:nvSpPr>
        <p:spPr>
          <a:xfrm>
            <a:off x="320040" y="1005840"/>
            <a:ext cx="2743200" cy="1719072"/>
          </a:xfrm>
          <a:prstGeom prst="rect">
            <a:avLst/>
          </a:prstGeom>
          <a:solidFill>
            <a:srgbClr val="1E100A"/>
          </a:solidFill>
          <a:ln w="12700">
            <a:solidFill>
              <a:srgbClr val="C8963C"/>
            </a:solidFill>
            <a:prstDash val="solid"/>
          </a:ln>
        </p:spPr>
      </p:sp>
      <p:sp>
        <p:nvSpPr>
          <p:cNvPr id="4" name="Shape 2"/>
          <p:cNvSpPr/>
          <p:nvPr/>
        </p:nvSpPr>
        <p:spPr>
          <a:xfrm>
            <a:off x="320040" y="1005840"/>
            <a:ext cx="2743200" cy="384048"/>
          </a:xfrm>
          <a:prstGeom prst="rect">
            <a:avLst/>
          </a:prstGeom>
          <a:solidFill>
            <a:srgbClr val="C8963C"/>
          </a:solidFill>
          <a:ln w="12700">
            <a:solidFill>
              <a:srgbClr val="C8963C"/>
            </a:solidFill>
            <a:prstDash val="solid"/>
          </a:ln>
        </p:spPr>
      </p:sp>
      <p:sp>
        <p:nvSpPr>
          <p:cNvPr id="5" name="Text 3"/>
          <p:cNvSpPr/>
          <p:nvPr/>
        </p:nvSpPr>
        <p:spPr>
          <a:xfrm>
            <a:off x="393192" y="1005840"/>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01  Predict Life Expectancy</a:t>
            </a:r>
            <a:endParaRPr lang="en-US" sz="1200" dirty="0"/>
          </a:p>
        </p:txBody>
      </p:sp>
      <p:sp>
        <p:nvSpPr>
          <p:cNvPr id="6" name="Text 4"/>
          <p:cNvSpPr/>
          <p:nvPr/>
        </p:nvSpPr>
        <p:spPr>
          <a:xfrm>
            <a:off x="411480" y="1463040"/>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Build regression models (Linear, Ridge, Lasso) to predict continuous life expectancy values.</a:t>
            </a:r>
            <a:endParaRPr lang="en-US" sz="1150" dirty="0"/>
          </a:p>
        </p:txBody>
      </p:sp>
      <p:sp>
        <p:nvSpPr>
          <p:cNvPr id="7" name="Shape 5"/>
          <p:cNvSpPr/>
          <p:nvPr/>
        </p:nvSpPr>
        <p:spPr>
          <a:xfrm>
            <a:off x="3246120" y="1005840"/>
            <a:ext cx="2743200" cy="1719072"/>
          </a:xfrm>
          <a:prstGeom prst="rect">
            <a:avLst/>
          </a:prstGeom>
          <a:solidFill>
            <a:srgbClr val="1E100A"/>
          </a:solidFill>
          <a:ln w="12700">
            <a:solidFill>
              <a:srgbClr val="C8963C"/>
            </a:solidFill>
            <a:prstDash val="solid"/>
          </a:ln>
        </p:spPr>
      </p:sp>
      <p:sp>
        <p:nvSpPr>
          <p:cNvPr id="8" name="Shape 6"/>
          <p:cNvSpPr/>
          <p:nvPr/>
        </p:nvSpPr>
        <p:spPr>
          <a:xfrm>
            <a:off x="3246120" y="1005840"/>
            <a:ext cx="2743200" cy="384048"/>
          </a:xfrm>
          <a:prstGeom prst="rect">
            <a:avLst/>
          </a:prstGeom>
          <a:solidFill>
            <a:srgbClr val="C8963C"/>
          </a:solidFill>
          <a:ln w="12700">
            <a:solidFill>
              <a:srgbClr val="C8963C"/>
            </a:solidFill>
            <a:prstDash val="solid"/>
          </a:ln>
        </p:spPr>
      </p:sp>
      <p:sp>
        <p:nvSpPr>
          <p:cNvPr id="9" name="Text 7"/>
          <p:cNvSpPr/>
          <p:nvPr/>
        </p:nvSpPr>
        <p:spPr>
          <a:xfrm>
            <a:off x="3319272" y="1005840"/>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02  Binary Classification</a:t>
            </a:r>
            <a:endParaRPr lang="en-US" sz="1200" dirty="0"/>
          </a:p>
        </p:txBody>
      </p:sp>
      <p:sp>
        <p:nvSpPr>
          <p:cNvPr id="10" name="Text 8"/>
          <p:cNvSpPr/>
          <p:nvPr/>
        </p:nvSpPr>
        <p:spPr>
          <a:xfrm>
            <a:off x="3337560" y="1463040"/>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Classify countries as High/Low life expectancy using median split threshold.</a:t>
            </a:r>
            <a:endParaRPr lang="en-US" sz="1150" dirty="0"/>
          </a:p>
        </p:txBody>
      </p:sp>
      <p:sp>
        <p:nvSpPr>
          <p:cNvPr id="11" name="Shape 9"/>
          <p:cNvSpPr/>
          <p:nvPr/>
        </p:nvSpPr>
        <p:spPr>
          <a:xfrm>
            <a:off x="6172200" y="1005840"/>
            <a:ext cx="2743200" cy="1719072"/>
          </a:xfrm>
          <a:prstGeom prst="rect">
            <a:avLst/>
          </a:prstGeom>
          <a:solidFill>
            <a:srgbClr val="1E100A"/>
          </a:solidFill>
          <a:ln w="12700">
            <a:solidFill>
              <a:srgbClr val="C8963C"/>
            </a:solidFill>
            <a:prstDash val="solid"/>
          </a:ln>
        </p:spPr>
      </p:sp>
      <p:sp>
        <p:nvSpPr>
          <p:cNvPr id="12" name="Shape 10"/>
          <p:cNvSpPr/>
          <p:nvPr/>
        </p:nvSpPr>
        <p:spPr>
          <a:xfrm>
            <a:off x="6172200" y="1005840"/>
            <a:ext cx="2743200" cy="384048"/>
          </a:xfrm>
          <a:prstGeom prst="rect">
            <a:avLst/>
          </a:prstGeom>
          <a:solidFill>
            <a:srgbClr val="C8963C"/>
          </a:solidFill>
          <a:ln w="12700">
            <a:solidFill>
              <a:srgbClr val="C8963C"/>
            </a:solidFill>
            <a:prstDash val="solid"/>
          </a:ln>
        </p:spPr>
      </p:sp>
      <p:sp>
        <p:nvSpPr>
          <p:cNvPr id="13" name="Text 11"/>
          <p:cNvSpPr/>
          <p:nvPr/>
        </p:nvSpPr>
        <p:spPr>
          <a:xfrm>
            <a:off x="6245352" y="1005840"/>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03  Model Comparison</a:t>
            </a:r>
            <a:endParaRPr lang="en-US" sz="1200" dirty="0"/>
          </a:p>
        </p:txBody>
      </p:sp>
      <p:sp>
        <p:nvSpPr>
          <p:cNvPr id="14" name="Text 12"/>
          <p:cNvSpPr/>
          <p:nvPr/>
        </p:nvSpPr>
        <p:spPr>
          <a:xfrm>
            <a:off x="6263640" y="1463040"/>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Train and compare 7 models total; select best using R², accuracy, F1-score</a:t>
            </a:r>
            <a:endParaRPr lang="en-US" sz="1150" dirty="0"/>
          </a:p>
        </p:txBody>
      </p:sp>
      <p:sp>
        <p:nvSpPr>
          <p:cNvPr id="15" name="Shape 13"/>
          <p:cNvSpPr/>
          <p:nvPr/>
        </p:nvSpPr>
        <p:spPr>
          <a:xfrm>
            <a:off x="320040" y="2907792"/>
            <a:ext cx="2743200" cy="1719072"/>
          </a:xfrm>
          <a:prstGeom prst="rect">
            <a:avLst/>
          </a:prstGeom>
          <a:solidFill>
            <a:srgbClr val="1E100A"/>
          </a:solidFill>
          <a:ln w="12700">
            <a:solidFill>
              <a:srgbClr val="C8963C"/>
            </a:solidFill>
            <a:prstDash val="solid"/>
          </a:ln>
        </p:spPr>
      </p:sp>
      <p:sp>
        <p:nvSpPr>
          <p:cNvPr id="16" name="Shape 14"/>
          <p:cNvSpPr/>
          <p:nvPr/>
        </p:nvSpPr>
        <p:spPr>
          <a:xfrm>
            <a:off x="320040" y="2907792"/>
            <a:ext cx="2743200" cy="384048"/>
          </a:xfrm>
          <a:prstGeom prst="rect">
            <a:avLst/>
          </a:prstGeom>
          <a:solidFill>
            <a:srgbClr val="C8963C"/>
          </a:solidFill>
          <a:ln w="12700">
            <a:solidFill>
              <a:srgbClr val="C8963C"/>
            </a:solidFill>
            <a:prstDash val="solid"/>
          </a:ln>
        </p:spPr>
      </p:sp>
      <p:sp>
        <p:nvSpPr>
          <p:cNvPr id="17" name="Text 15"/>
          <p:cNvSpPr/>
          <p:nvPr/>
        </p:nvSpPr>
        <p:spPr>
          <a:xfrm>
            <a:off x="393192" y="2907792"/>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04  Feature Importance</a:t>
            </a:r>
            <a:endParaRPr lang="en-US" sz="1200" dirty="0"/>
          </a:p>
        </p:txBody>
      </p:sp>
      <p:sp>
        <p:nvSpPr>
          <p:cNvPr id="18" name="Text 16"/>
          <p:cNvSpPr/>
          <p:nvPr/>
        </p:nvSpPr>
        <p:spPr>
          <a:xfrm>
            <a:off x="411480" y="3364992"/>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Identify which health &amp; economic factors most strongly drive life expectancy</a:t>
            </a:r>
            <a:endParaRPr lang="en-US" sz="1150" dirty="0"/>
          </a:p>
        </p:txBody>
      </p:sp>
      <p:sp>
        <p:nvSpPr>
          <p:cNvPr id="19" name="Shape 17"/>
          <p:cNvSpPr/>
          <p:nvPr/>
        </p:nvSpPr>
        <p:spPr>
          <a:xfrm>
            <a:off x="3246120" y="2907792"/>
            <a:ext cx="2743200" cy="1719072"/>
          </a:xfrm>
          <a:prstGeom prst="rect">
            <a:avLst/>
          </a:prstGeom>
          <a:solidFill>
            <a:srgbClr val="1E100A"/>
          </a:solidFill>
          <a:ln w="12700">
            <a:solidFill>
              <a:srgbClr val="C8963C"/>
            </a:solidFill>
            <a:prstDash val="solid"/>
          </a:ln>
        </p:spPr>
      </p:sp>
      <p:sp>
        <p:nvSpPr>
          <p:cNvPr id="20" name="Shape 18"/>
          <p:cNvSpPr/>
          <p:nvPr/>
        </p:nvSpPr>
        <p:spPr>
          <a:xfrm>
            <a:off x="3246120" y="2907792"/>
            <a:ext cx="2743200" cy="384048"/>
          </a:xfrm>
          <a:prstGeom prst="rect">
            <a:avLst/>
          </a:prstGeom>
          <a:solidFill>
            <a:srgbClr val="C8963C"/>
          </a:solidFill>
          <a:ln w="12700">
            <a:solidFill>
              <a:srgbClr val="C8963C"/>
            </a:solidFill>
            <a:prstDash val="solid"/>
          </a:ln>
        </p:spPr>
      </p:sp>
      <p:sp>
        <p:nvSpPr>
          <p:cNvPr id="21" name="Text 19"/>
          <p:cNvSpPr/>
          <p:nvPr/>
        </p:nvSpPr>
        <p:spPr>
          <a:xfrm>
            <a:off x="3319272" y="2907792"/>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05  Hyperparameter Tuning</a:t>
            </a:r>
            <a:endParaRPr lang="en-US" sz="1200" dirty="0"/>
          </a:p>
        </p:txBody>
      </p:sp>
      <p:sp>
        <p:nvSpPr>
          <p:cNvPr id="22" name="Text 20"/>
          <p:cNvSpPr/>
          <p:nvPr/>
        </p:nvSpPr>
        <p:spPr>
          <a:xfrm>
            <a:off x="3337560" y="3364992"/>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Optimize all models using GridSearchCV with 5-fold cross-validation</a:t>
            </a:r>
            <a:endParaRPr lang="en-US" sz="1150" dirty="0"/>
          </a:p>
        </p:txBody>
      </p:sp>
      <p:sp>
        <p:nvSpPr>
          <p:cNvPr id="23" name="Shape 21"/>
          <p:cNvSpPr/>
          <p:nvPr/>
        </p:nvSpPr>
        <p:spPr>
          <a:xfrm>
            <a:off x="6172200" y="2907792"/>
            <a:ext cx="2743200" cy="1719072"/>
          </a:xfrm>
          <a:prstGeom prst="rect">
            <a:avLst/>
          </a:prstGeom>
          <a:solidFill>
            <a:srgbClr val="1E100A"/>
          </a:solidFill>
          <a:ln w="12700">
            <a:solidFill>
              <a:srgbClr val="C8963C"/>
            </a:solidFill>
            <a:prstDash val="solid"/>
          </a:ln>
        </p:spPr>
      </p:sp>
      <p:sp>
        <p:nvSpPr>
          <p:cNvPr id="24" name="Shape 22"/>
          <p:cNvSpPr/>
          <p:nvPr/>
        </p:nvSpPr>
        <p:spPr>
          <a:xfrm>
            <a:off x="6172200" y="2907792"/>
            <a:ext cx="2743200" cy="384048"/>
          </a:xfrm>
          <a:prstGeom prst="rect">
            <a:avLst/>
          </a:prstGeom>
          <a:solidFill>
            <a:srgbClr val="C8963C"/>
          </a:solidFill>
          <a:ln w="12700">
            <a:solidFill>
              <a:srgbClr val="C8963C"/>
            </a:solidFill>
            <a:prstDash val="solid"/>
          </a:ln>
        </p:spPr>
      </p:sp>
      <p:sp>
        <p:nvSpPr>
          <p:cNvPr id="25" name="Text 23"/>
          <p:cNvSpPr/>
          <p:nvPr/>
        </p:nvSpPr>
        <p:spPr>
          <a:xfrm>
            <a:off x="6245352" y="2907792"/>
            <a:ext cx="2596896" cy="384048"/>
          </a:xfrm>
          <a:prstGeom prst="rect">
            <a:avLst/>
          </a:prstGeom>
          <a:noFill/>
          <a:ln/>
        </p:spPr>
        <p:txBody>
          <a:bodyPr wrap="square" lIns="0" tIns="0" rIns="0" bIns="0"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06  Visualize Results</a:t>
            </a:r>
            <a:endParaRPr lang="en-US" sz="1200" dirty="0"/>
          </a:p>
        </p:txBody>
      </p:sp>
      <p:sp>
        <p:nvSpPr>
          <p:cNvPr id="26" name="Text 24"/>
          <p:cNvSpPr/>
          <p:nvPr/>
        </p:nvSpPr>
        <p:spPr>
          <a:xfrm>
            <a:off x="6263640" y="3364992"/>
            <a:ext cx="2560320" cy="1170432"/>
          </a:xfrm>
          <a:prstGeom prst="rect">
            <a:avLst/>
          </a:prstGeom>
          <a:noFill/>
          <a:ln/>
        </p:spPr>
        <p:txBody>
          <a:bodyPr wrap="square" lIns="0" tIns="0" rIns="0" bIns="0" rtlCol="0" anchor="t"/>
          <a:lstStyle/>
          <a:p>
            <a:pPr marL="0" indent="0">
              <a:lnSpc>
                <a:spcPct val="130000"/>
              </a:lnSpc>
              <a:buNone/>
            </a:pPr>
            <a:r>
              <a:rPr lang="en-US" sz="1150" dirty="0">
                <a:solidFill>
                  <a:srgbClr val="C8A880"/>
                </a:solidFill>
                <a:latin typeface="Calibri" pitchFamily="34" charset="0"/>
                <a:ea typeface="Calibri" pitchFamily="34" charset="-122"/>
                <a:cs typeface="Calibri" pitchFamily="34" charset="-120"/>
              </a:rPr>
              <a:t>Actual vs Predicted, feature importance, confusion matrix, comparisons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963C"/>
          </a:solidFill>
          <a:ln w="12700">
            <a:solidFill>
              <a:srgbClr val="C8963C"/>
            </a:solidFill>
            <a:prstDash val="solid"/>
          </a:ln>
        </p:spPr>
      </p:sp>
      <p:sp>
        <p:nvSpPr>
          <p:cNvPr id="3" name="Text 1"/>
          <p:cNvSpPr/>
          <p:nvPr/>
        </p:nvSpPr>
        <p:spPr>
          <a:xfrm>
            <a:off x="347472" y="201168"/>
            <a:ext cx="8412480" cy="658368"/>
          </a:xfrm>
          <a:prstGeom prst="rect">
            <a:avLst/>
          </a:prstGeom>
          <a:noFill/>
          <a:ln/>
        </p:spPr>
        <p:txBody>
          <a:bodyPr wrap="square" lIns="0" tIns="0" rIns="0" bIns="0" rtlCol="0" anchor="ctr"/>
          <a:lstStyle/>
          <a:p>
            <a:pPr marL="0" indent="0">
              <a:buNone/>
            </a:pPr>
            <a:r>
              <a:rPr lang="en-US" sz="3800" dirty="0">
                <a:solidFill>
                  <a:srgbClr val="5C3317"/>
                </a:solidFill>
                <a:latin typeface="Georgia" pitchFamily="34" charset="0"/>
                <a:ea typeface="Georgia" pitchFamily="34" charset="-122"/>
                <a:cs typeface="Georgia" pitchFamily="34" charset="-120"/>
              </a:rPr>
              <a:t>Technology Tools</a:t>
            </a:r>
            <a:endParaRPr lang="en-US" sz="3800" dirty="0"/>
          </a:p>
        </p:txBody>
      </p:sp>
      <p:sp>
        <p:nvSpPr>
          <p:cNvPr id="4" name="Shape 2"/>
          <p:cNvSpPr/>
          <p:nvPr/>
        </p:nvSpPr>
        <p:spPr>
          <a:xfrm>
            <a:off x="320040" y="987552"/>
            <a:ext cx="4224528" cy="1170432"/>
          </a:xfrm>
          <a:prstGeom prst="rect">
            <a:avLst/>
          </a:prstGeom>
          <a:solidFill>
            <a:srgbClr val="FFFFFF"/>
          </a:solidFill>
          <a:ln w="12700">
            <a:solidFill>
              <a:srgbClr val="D4A96A"/>
            </a:solidFill>
            <a:prstDash val="solid"/>
          </a:ln>
        </p:spPr>
      </p:sp>
      <p:sp>
        <p:nvSpPr>
          <p:cNvPr id="5" name="Shape 3"/>
          <p:cNvSpPr/>
          <p:nvPr/>
        </p:nvSpPr>
        <p:spPr>
          <a:xfrm>
            <a:off x="320040" y="987552"/>
            <a:ext cx="109728" cy="1170432"/>
          </a:xfrm>
          <a:prstGeom prst="rect">
            <a:avLst/>
          </a:prstGeom>
          <a:solidFill>
            <a:srgbClr val="C8963C"/>
          </a:solidFill>
          <a:ln w="12700">
            <a:solidFill>
              <a:srgbClr val="C8963C"/>
            </a:solidFill>
            <a:prstDash val="solid"/>
          </a:ln>
        </p:spPr>
      </p:sp>
      <p:sp>
        <p:nvSpPr>
          <p:cNvPr id="6" name="Text 4"/>
          <p:cNvSpPr/>
          <p:nvPr/>
        </p:nvSpPr>
        <p:spPr>
          <a:xfrm>
            <a:off x="521208" y="107899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Python</a:t>
            </a:r>
            <a:endParaRPr lang="en-US" sz="1400" dirty="0"/>
          </a:p>
        </p:txBody>
      </p:sp>
      <p:sp>
        <p:nvSpPr>
          <p:cNvPr id="7" name="Text 5"/>
          <p:cNvSpPr/>
          <p:nvPr/>
        </p:nvSpPr>
        <p:spPr>
          <a:xfrm>
            <a:off x="521208" y="146304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Primary language — data processing, ML, and visualization</a:t>
            </a:r>
            <a:endParaRPr lang="en-US" sz="1100" dirty="0"/>
          </a:p>
        </p:txBody>
      </p:sp>
      <p:sp>
        <p:nvSpPr>
          <p:cNvPr id="8" name="Shape 6"/>
          <p:cNvSpPr/>
          <p:nvPr/>
        </p:nvSpPr>
        <p:spPr>
          <a:xfrm>
            <a:off x="4727448" y="987552"/>
            <a:ext cx="4224528" cy="1170432"/>
          </a:xfrm>
          <a:prstGeom prst="rect">
            <a:avLst/>
          </a:prstGeom>
          <a:solidFill>
            <a:srgbClr val="FFFFFF"/>
          </a:solidFill>
          <a:ln w="12700">
            <a:solidFill>
              <a:srgbClr val="D4A96A"/>
            </a:solidFill>
            <a:prstDash val="solid"/>
          </a:ln>
        </p:spPr>
      </p:sp>
      <p:sp>
        <p:nvSpPr>
          <p:cNvPr id="9" name="Shape 7"/>
          <p:cNvSpPr/>
          <p:nvPr/>
        </p:nvSpPr>
        <p:spPr>
          <a:xfrm>
            <a:off x="4727448" y="987552"/>
            <a:ext cx="109728" cy="1170432"/>
          </a:xfrm>
          <a:prstGeom prst="rect">
            <a:avLst/>
          </a:prstGeom>
          <a:solidFill>
            <a:srgbClr val="C8963C"/>
          </a:solidFill>
          <a:ln w="12700">
            <a:solidFill>
              <a:srgbClr val="C8963C"/>
            </a:solidFill>
            <a:prstDash val="solid"/>
          </a:ln>
        </p:spPr>
      </p:sp>
      <p:sp>
        <p:nvSpPr>
          <p:cNvPr id="10" name="Text 8"/>
          <p:cNvSpPr/>
          <p:nvPr/>
        </p:nvSpPr>
        <p:spPr>
          <a:xfrm>
            <a:off x="4928616" y="107899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Pandas &amp; NumPy</a:t>
            </a:r>
            <a:endParaRPr lang="en-US" sz="1400" dirty="0"/>
          </a:p>
        </p:txBody>
      </p:sp>
      <p:sp>
        <p:nvSpPr>
          <p:cNvPr id="11" name="Text 9"/>
          <p:cNvSpPr/>
          <p:nvPr/>
        </p:nvSpPr>
        <p:spPr>
          <a:xfrm>
            <a:off x="4928616" y="146304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Data loading, cleaning, imputation, and numerical computation</a:t>
            </a:r>
            <a:endParaRPr lang="en-US" sz="1100" dirty="0"/>
          </a:p>
        </p:txBody>
      </p:sp>
      <p:sp>
        <p:nvSpPr>
          <p:cNvPr id="12" name="Shape 10"/>
          <p:cNvSpPr/>
          <p:nvPr/>
        </p:nvSpPr>
        <p:spPr>
          <a:xfrm>
            <a:off x="320040" y="2313432"/>
            <a:ext cx="4224528" cy="1170432"/>
          </a:xfrm>
          <a:prstGeom prst="rect">
            <a:avLst/>
          </a:prstGeom>
          <a:solidFill>
            <a:srgbClr val="FFFFFF"/>
          </a:solidFill>
          <a:ln w="12700">
            <a:solidFill>
              <a:srgbClr val="D4A96A"/>
            </a:solidFill>
            <a:prstDash val="solid"/>
          </a:ln>
        </p:spPr>
      </p:sp>
      <p:sp>
        <p:nvSpPr>
          <p:cNvPr id="13" name="Shape 11"/>
          <p:cNvSpPr/>
          <p:nvPr/>
        </p:nvSpPr>
        <p:spPr>
          <a:xfrm>
            <a:off x="320040" y="2313432"/>
            <a:ext cx="109728" cy="1170432"/>
          </a:xfrm>
          <a:prstGeom prst="rect">
            <a:avLst/>
          </a:prstGeom>
          <a:solidFill>
            <a:srgbClr val="C8963C"/>
          </a:solidFill>
          <a:ln w="12700">
            <a:solidFill>
              <a:srgbClr val="C8963C"/>
            </a:solidFill>
            <a:prstDash val="solid"/>
          </a:ln>
        </p:spPr>
      </p:sp>
      <p:sp>
        <p:nvSpPr>
          <p:cNvPr id="14" name="Text 12"/>
          <p:cNvSpPr/>
          <p:nvPr/>
        </p:nvSpPr>
        <p:spPr>
          <a:xfrm>
            <a:off x="521208" y="240487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Scikit-learn</a:t>
            </a:r>
            <a:endParaRPr lang="en-US" sz="1400" dirty="0"/>
          </a:p>
        </p:txBody>
      </p:sp>
      <p:sp>
        <p:nvSpPr>
          <p:cNvPr id="15" name="Text 13"/>
          <p:cNvSpPr/>
          <p:nvPr/>
        </p:nvSpPr>
        <p:spPr>
          <a:xfrm>
            <a:off x="521208" y="278892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LinearRegression, Ridge, Lasso, Logistic, KNN, DT, SVM, GridSearchCV, StandardScaler</a:t>
            </a:r>
            <a:endParaRPr lang="en-US" sz="1100" dirty="0"/>
          </a:p>
        </p:txBody>
      </p:sp>
      <p:sp>
        <p:nvSpPr>
          <p:cNvPr id="16" name="Shape 14"/>
          <p:cNvSpPr/>
          <p:nvPr/>
        </p:nvSpPr>
        <p:spPr>
          <a:xfrm>
            <a:off x="4727448" y="2313432"/>
            <a:ext cx="4224528" cy="1170432"/>
          </a:xfrm>
          <a:prstGeom prst="rect">
            <a:avLst/>
          </a:prstGeom>
          <a:solidFill>
            <a:srgbClr val="FFFFFF"/>
          </a:solidFill>
          <a:ln w="12700">
            <a:solidFill>
              <a:srgbClr val="D4A96A"/>
            </a:solidFill>
            <a:prstDash val="solid"/>
          </a:ln>
        </p:spPr>
      </p:sp>
      <p:sp>
        <p:nvSpPr>
          <p:cNvPr id="17" name="Shape 15"/>
          <p:cNvSpPr/>
          <p:nvPr/>
        </p:nvSpPr>
        <p:spPr>
          <a:xfrm>
            <a:off x="4727448" y="2313432"/>
            <a:ext cx="109728" cy="1170432"/>
          </a:xfrm>
          <a:prstGeom prst="rect">
            <a:avLst/>
          </a:prstGeom>
          <a:solidFill>
            <a:srgbClr val="C8963C"/>
          </a:solidFill>
          <a:ln w="12700">
            <a:solidFill>
              <a:srgbClr val="C8963C"/>
            </a:solidFill>
            <a:prstDash val="solid"/>
          </a:ln>
        </p:spPr>
      </p:sp>
      <p:sp>
        <p:nvSpPr>
          <p:cNvPr id="18" name="Text 16"/>
          <p:cNvSpPr/>
          <p:nvPr/>
        </p:nvSpPr>
        <p:spPr>
          <a:xfrm>
            <a:off x="4928616" y="240487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Matplotlib &amp; Seaborn</a:t>
            </a:r>
            <a:endParaRPr lang="en-US" sz="1400" dirty="0"/>
          </a:p>
        </p:txBody>
      </p:sp>
      <p:sp>
        <p:nvSpPr>
          <p:cNvPr id="19" name="Text 17"/>
          <p:cNvSpPr/>
          <p:nvPr/>
        </p:nvSpPr>
        <p:spPr>
          <a:xfrm>
            <a:off x="4928616" y="278892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Boxplots, correlation heatmap, Actual vs Predicted, residuals, confusion matrix</a:t>
            </a:r>
            <a:endParaRPr lang="en-US" sz="1100" dirty="0"/>
          </a:p>
        </p:txBody>
      </p:sp>
      <p:sp>
        <p:nvSpPr>
          <p:cNvPr id="20" name="Shape 18"/>
          <p:cNvSpPr/>
          <p:nvPr/>
        </p:nvSpPr>
        <p:spPr>
          <a:xfrm>
            <a:off x="320040" y="3639312"/>
            <a:ext cx="4224528" cy="1170432"/>
          </a:xfrm>
          <a:prstGeom prst="rect">
            <a:avLst/>
          </a:prstGeom>
          <a:solidFill>
            <a:srgbClr val="FFFFFF"/>
          </a:solidFill>
          <a:ln w="12700">
            <a:solidFill>
              <a:srgbClr val="D4A96A"/>
            </a:solidFill>
            <a:prstDash val="solid"/>
          </a:ln>
        </p:spPr>
      </p:sp>
      <p:sp>
        <p:nvSpPr>
          <p:cNvPr id="21" name="Shape 19"/>
          <p:cNvSpPr/>
          <p:nvPr/>
        </p:nvSpPr>
        <p:spPr>
          <a:xfrm>
            <a:off x="320040" y="3639312"/>
            <a:ext cx="109728" cy="1170432"/>
          </a:xfrm>
          <a:prstGeom prst="rect">
            <a:avLst/>
          </a:prstGeom>
          <a:solidFill>
            <a:srgbClr val="C8963C"/>
          </a:solidFill>
          <a:ln w="12700">
            <a:solidFill>
              <a:srgbClr val="C8963C"/>
            </a:solidFill>
            <a:prstDash val="solid"/>
          </a:ln>
        </p:spPr>
      </p:sp>
      <p:sp>
        <p:nvSpPr>
          <p:cNvPr id="22" name="Text 20"/>
          <p:cNvSpPr/>
          <p:nvPr/>
        </p:nvSpPr>
        <p:spPr>
          <a:xfrm>
            <a:off x="521208" y="373075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Jupyter Notebook</a:t>
            </a:r>
            <a:endParaRPr lang="en-US" sz="1400" dirty="0"/>
          </a:p>
        </p:txBody>
      </p:sp>
      <p:sp>
        <p:nvSpPr>
          <p:cNvPr id="23" name="Text 21"/>
          <p:cNvSpPr/>
          <p:nvPr/>
        </p:nvSpPr>
        <p:spPr>
          <a:xfrm>
            <a:off x="521208" y="411480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Interactive step-by-step analysis and documentation environment</a:t>
            </a:r>
            <a:endParaRPr lang="en-US" sz="1100" dirty="0"/>
          </a:p>
        </p:txBody>
      </p:sp>
      <p:sp>
        <p:nvSpPr>
          <p:cNvPr id="24" name="Shape 22"/>
          <p:cNvSpPr/>
          <p:nvPr/>
        </p:nvSpPr>
        <p:spPr>
          <a:xfrm>
            <a:off x="4654296" y="3639312"/>
            <a:ext cx="4224528" cy="1170432"/>
          </a:xfrm>
          <a:prstGeom prst="rect">
            <a:avLst/>
          </a:prstGeom>
          <a:solidFill>
            <a:srgbClr val="FFFFFF"/>
          </a:solidFill>
          <a:ln w="12700">
            <a:solidFill>
              <a:srgbClr val="D4A96A"/>
            </a:solidFill>
            <a:prstDash val="solid"/>
          </a:ln>
        </p:spPr>
      </p:sp>
      <p:sp>
        <p:nvSpPr>
          <p:cNvPr id="25" name="Shape 23"/>
          <p:cNvSpPr/>
          <p:nvPr/>
        </p:nvSpPr>
        <p:spPr>
          <a:xfrm>
            <a:off x="4727448" y="3639312"/>
            <a:ext cx="109728" cy="1170432"/>
          </a:xfrm>
          <a:prstGeom prst="rect">
            <a:avLst/>
          </a:prstGeom>
          <a:solidFill>
            <a:srgbClr val="C8963C"/>
          </a:solidFill>
          <a:ln w="12700">
            <a:solidFill>
              <a:srgbClr val="C8963C"/>
            </a:solidFill>
            <a:prstDash val="solid"/>
          </a:ln>
        </p:spPr>
      </p:sp>
      <p:sp>
        <p:nvSpPr>
          <p:cNvPr id="26" name="Text 24"/>
          <p:cNvSpPr/>
          <p:nvPr/>
        </p:nvSpPr>
        <p:spPr>
          <a:xfrm>
            <a:off x="4928616" y="3730752"/>
            <a:ext cx="3931920" cy="347472"/>
          </a:xfrm>
          <a:prstGeom prst="rect">
            <a:avLst/>
          </a:prstGeom>
          <a:noFill/>
          <a:ln/>
        </p:spPr>
        <p:txBody>
          <a:bodyPr wrap="square" lIns="0" tIns="0" rIns="0" bIns="0" rtlCol="0" anchor="ctr"/>
          <a:lstStyle/>
          <a:p>
            <a:pPr marL="0" indent="0">
              <a:buNone/>
            </a:pPr>
            <a:r>
              <a:rPr lang="en-US" sz="1400" b="1" dirty="0">
                <a:solidFill>
                  <a:srgbClr val="5C3317"/>
                </a:solidFill>
                <a:latin typeface="Calibri" pitchFamily="34" charset="0"/>
                <a:ea typeface="Calibri" pitchFamily="34" charset="-122"/>
                <a:cs typeface="Calibri" pitchFamily="34" charset="-120"/>
              </a:rPr>
              <a:t>Csv \ Excel</a:t>
            </a:r>
            <a:endParaRPr lang="en-US" sz="1400" dirty="0"/>
          </a:p>
        </p:txBody>
      </p:sp>
      <p:sp>
        <p:nvSpPr>
          <p:cNvPr id="27" name="Text 25"/>
          <p:cNvSpPr/>
          <p:nvPr/>
        </p:nvSpPr>
        <p:spPr>
          <a:xfrm>
            <a:off x="4928616" y="4114800"/>
            <a:ext cx="3931920" cy="594360"/>
          </a:xfrm>
          <a:prstGeom prst="rect">
            <a:avLst/>
          </a:prstGeom>
          <a:noFill/>
          <a:ln/>
        </p:spPr>
        <p:txBody>
          <a:bodyPr wrap="square" lIns="0" tIns="0" rIns="0" bIns="0" rtlCol="0" anchor="ctr"/>
          <a:lstStyle/>
          <a:p>
            <a:pPr marL="0" indent="0">
              <a:lnSpc>
                <a:spcPct val="120000"/>
              </a:lnSpc>
              <a:buNone/>
            </a:pPr>
            <a:r>
              <a:rPr lang="en-US" sz="1100" dirty="0">
                <a:solidFill>
                  <a:srgbClr val="8A7060"/>
                </a:solidFill>
                <a:latin typeface="Calibri" pitchFamily="34" charset="0"/>
                <a:ea typeface="Calibri" pitchFamily="34" charset="-122"/>
                <a:cs typeface="Calibri" pitchFamily="34" charset="-120"/>
              </a:rPr>
              <a:t>The dataset was stored in CSV format and includes various socio-economic and health-related features affecting life expectancy.</a:t>
            </a:r>
          </a:p>
          <a:p>
            <a:pPr marL="0" indent="0">
              <a:lnSpc>
                <a:spcPct val="120000"/>
              </a:lnSpc>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1810"/>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621792"/>
          </a:xfrm>
          <a:prstGeom prst="rect">
            <a:avLst/>
          </a:prstGeom>
          <a:noFill/>
          <a:ln/>
        </p:spPr>
        <p:txBody>
          <a:bodyPr wrap="square" lIns="0" tIns="0" rIns="0" bIns="0" rtlCol="0" anchor="ctr"/>
          <a:lstStyle/>
          <a:p>
            <a:pPr marL="0" indent="0">
              <a:buNone/>
            </a:pPr>
            <a:r>
              <a:rPr lang="en-US" sz="3800" dirty="0">
                <a:solidFill>
                  <a:srgbClr val="C8963C"/>
                </a:solidFill>
                <a:latin typeface="Georgia" pitchFamily="34" charset="0"/>
                <a:ea typeface="Georgia" pitchFamily="34" charset="-122"/>
                <a:cs typeface="Georgia" pitchFamily="34" charset="-120"/>
              </a:rPr>
              <a:t>Research Methodology</a:t>
            </a:r>
            <a:endParaRPr lang="en-US" sz="3800" dirty="0"/>
          </a:p>
        </p:txBody>
      </p:sp>
      <p:sp>
        <p:nvSpPr>
          <p:cNvPr id="3" name="Shape 1"/>
          <p:cNvSpPr/>
          <p:nvPr/>
        </p:nvSpPr>
        <p:spPr>
          <a:xfrm>
            <a:off x="347472" y="1024128"/>
            <a:ext cx="438912" cy="438912"/>
          </a:xfrm>
          <a:prstGeom prst="ellipse">
            <a:avLst/>
          </a:prstGeom>
          <a:solidFill>
            <a:srgbClr val="C8963C"/>
          </a:solidFill>
          <a:ln w="12700">
            <a:solidFill>
              <a:srgbClr val="D4A96A"/>
            </a:solidFill>
            <a:prstDash val="solid"/>
          </a:ln>
        </p:spPr>
      </p:sp>
      <p:sp>
        <p:nvSpPr>
          <p:cNvPr id="4" name="Text 2"/>
          <p:cNvSpPr/>
          <p:nvPr/>
        </p:nvSpPr>
        <p:spPr>
          <a:xfrm>
            <a:off x="347472" y="1024128"/>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1</a:t>
            </a:r>
            <a:endParaRPr lang="en-US" sz="1400" dirty="0"/>
          </a:p>
        </p:txBody>
      </p:sp>
      <p:sp>
        <p:nvSpPr>
          <p:cNvPr id="5" name="Shape 3"/>
          <p:cNvSpPr/>
          <p:nvPr/>
        </p:nvSpPr>
        <p:spPr>
          <a:xfrm>
            <a:off x="566928" y="1463040"/>
            <a:ext cx="0" cy="146304"/>
          </a:xfrm>
          <a:prstGeom prst="line">
            <a:avLst/>
          </a:prstGeom>
          <a:noFill/>
          <a:ln w="12700">
            <a:solidFill>
              <a:srgbClr val="D4A96A"/>
            </a:solidFill>
            <a:prstDash val="solid"/>
          </a:ln>
        </p:spPr>
      </p:sp>
      <p:sp>
        <p:nvSpPr>
          <p:cNvPr id="6" name="Shape 4"/>
          <p:cNvSpPr/>
          <p:nvPr/>
        </p:nvSpPr>
        <p:spPr>
          <a:xfrm>
            <a:off x="932688" y="932688"/>
            <a:ext cx="7882128" cy="585216"/>
          </a:xfrm>
          <a:prstGeom prst="rect">
            <a:avLst/>
          </a:prstGeom>
          <a:solidFill>
            <a:srgbClr val="1E100A"/>
          </a:solidFill>
          <a:ln w="12700">
            <a:solidFill>
              <a:srgbClr val="D4A96A"/>
            </a:solidFill>
            <a:prstDash val="solid"/>
          </a:ln>
        </p:spPr>
      </p:sp>
      <p:sp>
        <p:nvSpPr>
          <p:cNvPr id="7" name="Text 5"/>
          <p:cNvSpPr/>
          <p:nvPr/>
        </p:nvSpPr>
        <p:spPr>
          <a:xfrm>
            <a:off x="1024128" y="1005840"/>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Data Collection:</a:t>
            </a:r>
            <a:endParaRPr lang="en-US" sz="1200" dirty="0"/>
          </a:p>
        </p:txBody>
      </p:sp>
      <p:sp>
        <p:nvSpPr>
          <p:cNvPr id="8" name="Text 6"/>
          <p:cNvSpPr/>
          <p:nvPr/>
        </p:nvSpPr>
        <p:spPr>
          <a:xfrm>
            <a:off x="2487168" y="1005840"/>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WHO Life Expectancy CSV — 2938 rows, 193 countries, 22 features, 2000–2015</a:t>
            </a:r>
            <a:endParaRPr lang="en-US" sz="1150" dirty="0"/>
          </a:p>
        </p:txBody>
      </p:sp>
      <p:sp>
        <p:nvSpPr>
          <p:cNvPr id="9" name="Shape 7"/>
          <p:cNvSpPr/>
          <p:nvPr/>
        </p:nvSpPr>
        <p:spPr>
          <a:xfrm>
            <a:off x="347472" y="1700784"/>
            <a:ext cx="438912" cy="438912"/>
          </a:xfrm>
          <a:prstGeom prst="ellipse">
            <a:avLst/>
          </a:prstGeom>
          <a:solidFill>
            <a:srgbClr val="C8963C"/>
          </a:solidFill>
          <a:ln w="12700">
            <a:solidFill>
              <a:srgbClr val="D4A96A"/>
            </a:solidFill>
            <a:prstDash val="solid"/>
          </a:ln>
        </p:spPr>
      </p:sp>
      <p:sp>
        <p:nvSpPr>
          <p:cNvPr id="10" name="Text 8"/>
          <p:cNvSpPr/>
          <p:nvPr/>
        </p:nvSpPr>
        <p:spPr>
          <a:xfrm>
            <a:off x="347472" y="1700784"/>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2</a:t>
            </a:r>
            <a:endParaRPr lang="en-US" sz="1400" dirty="0"/>
          </a:p>
        </p:txBody>
      </p:sp>
      <p:sp>
        <p:nvSpPr>
          <p:cNvPr id="11" name="Shape 9"/>
          <p:cNvSpPr/>
          <p:nvPr/>
        </p:nvSpPr>
        <p:spPr>
          <a:xfrm>
            <a:off x="566928" y="2139696"/>
            <a:ext cx="0" cy="146304"/>
          </a:xfrm>
          <a:prstGeom prst="line">
            <a:avLst/>
          </a:prstGeom>
          <a:noFill/>
          <a:ln w="12700">
            <a:solidFill>
              <a:srgbClr val="D4A96A"/>
            </a:solidFill>
            <a:prstDash val="solid"/>
          </a:ln>
        </p:spPr>
      </p:sp>
      <p:sp>
        <p:nvSpPr>
          <p:cNvPr id="12" name="Shape 10"/>
          <p:cNvSpPr/>
          <p:nvPr/>
        </p:nvSpPr>
        <p:spPr>
          <a:xfrm>
            <a:off x="932688" y="1609344"/>
            <a:ext cx="7882128" cy="585216"/>
          </a:xfrm>
          <a:prstGeom prst="rect">
            <a:avLst/>
          </a:prstGeom>
          <a:solidFill>
            <a:srgbClr val="1E100A"/>
          </a:solidFill>
          <a:ln w="12700">
            <a:solidFill>
              <a:srgbClr val="D4A96A"/>
            </a:solidFill>
            <a:prstDash val="solid"/>
          </a:ln>
        </p:spPr>
      </p:sp>
      <p:sp>
        <p:nvSpPr>
          <p:cNvPr id="13" name="Text 11"/>
          <p:cNvSpPr/>
          <p:nvPr/>
        </p:nvSpPr>
        <p:spPr>
          <a:xfrm>
            <a:off x="1024128" y="1682496"/>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EDA:</a:t>
            </a:r>
            <a:endParaRPr lang="en-US" sz="1200" dirty="0"/>
          </a:p>
        </p:txBody>
      </p:sp>
      <p:sp>
        <p:nvSpPr>
          <p:cNvPr id="14" name="Text 12"/>
          <p:cNvSpPr/>
          <p:nvPr/>
        </p:nvSpPr>
        <p:spPr>
          <a:xfrm>
            <a:off x="2487168" y="1682496"/>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Boxplots (all features), correlation heatmap, outlier detection</a:t>
            </a:r>
            <a:endParaRPr lang="en-US" sz="1150" dirty="0"/>
          </a:p>
        </p:txBody>
      </p:sp>
      <p:sp>
        <p:nvSpPr>
          <p:cNvPr id="15" name="Shape 13"/>
          <p:cNvSpPr/>
          <p:nvPr/>
        </p:nvSpPr>
        <p:spPr>
          <a:xfrm>
            <a:off x="347472" y="2377440"/>
            <a:ext cx="438912" cy="438912"/>
          </a:xfrm>
          <a:prstGeom prst="ellipse">
            <a:avLst/>
          </a:prstGeom>
          <a:solidFill>
            <a:srgbClr val="C8963C"/>
          </a:solidFill>
          <a:ln w="12700">
            <a:solidFill>
              <a:srgbClr val="D4A96A"/>
            </a:solidFill>
            <a:prstDash val="solid"/>
          </a:ln>
        </p:spPr>
      </p:sp>
      <p:sp>
        <p:nvSpPr>
          <p:cNvPr id="16" name="Text 14"/>
          <p:cNvSpPr/>
          <p:nvPr/>
        </p:nvSpPr>
        <p:spPr>
          <a:xfrm>
            <a:off x="347472" y="2377440"/>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566928" y="2816352"/>
            <a:ext cx="0" cy="146304"/>
          </a:xfrm>
          <a:prstGeom prst="line">
            <a:avLst/>
          </a:prstGeom>
          <a:noFill/>
          <a:ln w="12700">
            <a:solidFill>
              <a:srgbClr val="D4A96A"/>
            </a:solidFill>
            <a:prstDash val="solid"/>
          </a:ln>
        </p:spPr>
      </p:sp>
      <p:sp>
        <p:nvSpPr>
          <p:cNvPr id="18" name="Shape 16"/>
          <p:cNvSpPr/>
          <p:nvPr/>
        </p:nvSpPr>
        <p:spPr>
          <a:xfrm>
            <a:off x="932688" y="2286000"/>
            <a:ext cx="7882128" cy="585216"/>
          </a:xfrm>
          <a:prstGeom prst="rect">
            <a:avLst/>
          </a:prstGeom>
          <a:solidFill>
            <a:srgbClr val="1E100A"/>
          </a:solidFill>
          <a:ln w="12700">
            <a:solidFill>
              <a:srgbClr val="D4A96A"/>
            </a:solidFill>
            <a:prstDash val="solid"/>
          </a:ln>
        </p:spPr>
      </p:sp>
      <p:sp>
        <p:nvSpPr>
          <p:cNvPr id="19" name="Text 17"/>
          <p:cNvSpPr/>
          <p:nvPr/>
        </p:nvSpPr>
        <p:spPr>
          <a:xfrm>
            <a:off x="1024128" y="2359152"/>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Preprocessing:</a:t>
            </a:r>
            <a:endParaRPr lang="en-US" sz="1200" dirty="0"/>
          </a:p>
        </p:txBody>
      </p:sp>
      <p:sp>
        <p:nvSpPr>
          <p:cNvPr id="20" name="Text 18"/>
          <p:cNvSpPr/>
          <p:nvPr/>
        </p:nvSpPr>
        <p:spPr>
          <a:xfrm>
            <a:off x="2487168" y="2359152"/>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Median imputation (15% missing), Status encoding, Country dropped, IQR capping, StandardScaler</a:t>
            </a:r>
            <a:endParaRPr lang="en-US" sz="1150" dirty="0"/>
          </a:p>
        </p:txBody>
      </p:sp>
      <p:sp>
        <p:nvSpPr>
          <p:cNvPr id="21" name="Shape 19"/>
          <p:cNvSpPr/>
          <p:nvPr/>
        </p:nvSpPr>
        <p:spPr>
          <a:xfrm>
            <a:off x="347472" y="3054096"/>
            <a:ext cx="438912" cy="438912"/>
          </a:xfrm>
          <a:prstGeom prst="ellipse">
            <a:avLst/>
          </a:prstGeom>
          <a:solidFill>
            <a:srgbClr val="C8963C"/>
          </a:solidFill>
          <a:ln w="12700">
            <a:solidFill>
              <a:srgbClr val="D4A96A"/>
            </a:solidFill>
            <a:prstDash val="solid"/>
          </a:ln>
        </p:spPr>
      </p:sp>
      <p:sp>
        <p:nvSpPr>
          <p:cNvPr id="22" name="Text 20"/>
          <p:cNvSpPr/>
          <p:nvPr/>
        </p:nvSpPr>
        <p:spPr>
          <a:xfrm>
            <a:off x="347472" y="3054096"/>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566928" y="3493008"/>
            <a:ext cx="0" cy="146304"/>
          </a:xfrm>
          <a:prstGeom prst="line">
            <a:avLst/>
          </a:prstGeom>
          <a:noFill/>
          <a:ln w="12700">
            <a:solidFill>
              <a:srgbClr val="D4A96A"/>
            </a:solidFill>
            <a:prstDash val="solid"/>
          </a:ln>
        </p:spPr>
      </p:sp>
      <p:sp>
        <p:nvSpPr>
          <p:cNvPr id="24" name="Shape 22"/>
          <p:cNvSpPr/>
          <p:nvPr/>
        </p:nvSpPr>
        <p:spPr>
          <a:xfrm>
            <a:off x="932688" y="2962656"/>
            <a:ext cx="7882128" cy="585216"/>
          </a:xfrm>
          <a:prstGeom prst="rect">
            <a:avLst/>
          </a:prstGeom>
          <a:solidFill>
            <a:srgbClr val="1E100A"/>
          </a:solidFill>
          <a:ln w="12700">
            <a:solidFill>
              <a:srgbClr val="D4A96A"/>
            </a:solidFill>
            <a:prstDash val="solid"/>
          </a:ln>
        </p:spPr>
      </p:sp>
      <p:sp>
        <p:nvSpPr>
          <p:cNvPr id="25" name="Text 23"/>
          <p:cNvSpPr/>
          <p:nvPr/>
        </p:nvSpPr>
        <p:spPr>
          <a:xfrm>
            <a:off x="1024128" y="3035808"/>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Feature Selection:</a:t>
            </a:r>
            <a:endParaRPr lang="en-US" sz="1200" dirty="0"/>
          </a:p>
        </p:txBody>
      </p:sp>
      <p:sp>
        <p:nvSpPr>
          <p:cNvPr id="26" name="Text 24"/>
          <p:cNvSpPr/>
          <p:nvPr/>
        </p:nvSpPr>
        <p:spPr>
          <a:xfrm>
            <a:off x="2487168" y="3035808"/>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Removed infant deaths, thinness 5-9 yrs, percentage expenditure (low-value / multicollinear)</a:t>
            </a:r>
            <a:endParaRPr lang="en-US" sz="1150" dirty="0"/>
          </a:p>
        </p:txBody>
      </p:sp>
      <p:sp>
        <p:nvSpPr>
          <p:cNvPr id="27" name="Shape 25"/>
          <p:cNvSpPr/>
          <p:nvPr/>
        </p:nvSpPr>
        <p:spPr>
          <a:xfrm>
            <a:off x="347472" y="3730752"/>
            <a:ext cx="438912" cy="438912"/>
          </a:xfrm>
          <a:prstGeom prst="ellipse">
            <a:avLst/>
          </a:prstGeom>
          <a:solidFill>
            <a:srgbClr val="C8963C"/>
          </a:solidFill>
          <a:ln w="12700">
            <a:solidFill>
              <a:srgbClr val="D4A96A"/>
            </a:solidFill>
            <a:prstDash val="solid"/>
          </a:ln>
        </p:spPr>
      </p:sp>
      <p:sp>
        <p:nvSpPr>
          <p:cNvPr id="28" name="Text 26"/>
          <p:cNvSpPr/>
          <p:nvPr/>
        </p:nvSpPr>
        <p:spPr>
          <a:xfrm>
            <a:off x="347472" y="3730752"/>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5</a:t>
            </a:r>
            <a:endParaRPr lang="en-US" sz="1400" dirty="0"/>
          </a:p>
        </p:txBody>
      </p:sp>
      <p:sp>
        <p:nvSpPr>
          <p:cNvPr id="29" name="Shape 27"/>
          <p:cNvSpPr/>
          <p:nvPr/>
        </p:nvSpPr>
        <p:spPr>
          <a:xfrm>
            <a:off x="566928" y="4169664"/>
            <a:ext cx="0" cy="146304"/>
          </a:xfrm>
          <a:prstGeom prst="line">
            <a:avLst/>
          </a:prstGeom>
          <a:noFill/>
          <a:ln w="12700">
            <a:solidFill>
              <a:srgbClr val="D4A96A"/>
            </a:solidFill>
            <a:prstDash val="solid"/>
          </a:ln>
        </p:spPr>
      </p:sp>
      <p:sp>
        <p:nvSpPr>
          <p:cNvPr id="30" name="Shape 28"/>
          <p:cNvSpPr/>
          <p:nvPr/>
        </p:nvSpPr>
        <p:spPr>
          <a:xfrm>
            <a:off x="932688" y="3639312"/>
            <a:ext cx="7882128" cy="585216"/>
          </a:xfrm>
          <a:prstGeom prst="rect">
            <a:avLst/>
          </a:prstGeom>
          <a:solidFill>
            <a:srgbClr val="1E100A"/>
          </a:solidFill>
          <a:ln w="12700">
            <a:solidFill>
              <a:srgbClr val="D4A96A"/>
            </a:solidFill>
            <a:prstDash val="solid"/>
          </a:ln>
        </p:spPr>
      </p:sp>
      <p:sp>
        <p:nvSpPr>
          <p:cNvPr id="31" name="Text 29"/>
          <p:cNvSpPr/>
          <p:nvPr/>
        </p:nvSpPr>
        <p:spPr>
          <a:xfrm>
            <a:off x="1024128" y="3712464"/>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Regression Models:</a:t>
            </a:r>
            <a:endParaRPr lang="en-US" sz="1200" dirty="0"/>
          </a:p>
        </p:txBody>
      </p:sp>
      <p:sp>
        <p:nvSpPr>
          <p:cNvPr id="32" name="Text 30"/>
          <p:cNvSpPr/>
          <p:nvPr/>
        </p:nvSpPr>
        <p:spPr>
          <a:xfrm>
            <a:off x="2487168" y="3712464"/>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Linear Regression, Ridge, Lasso → Hyperparameter tuning → Best: Ridge (α=10), R²=0.8534</a:t>
            </a:r>
            <a:endParaRPr lang="en-US" sz="1150" dirty="0"/>
          </a:p>
        </p:txBody>
      </p:sp>
      <p:sp>
        <p:nvSpPr>
          <p:cNvPr id="33" name="Shape 31"/>
          <p:cNvSpPr/>
          <p:nvPr/>
        </p:nvSpPr>
        <p:spPr>
          <a:xfrm>
            <a:off x="347472" y="4407408"/>
            <a:ext cx="438912" cy="438912"/>
          </a:xfrm>
          <a:prstGeom prst="ellipse">
            <a:avLst/>
          </a:prstGeom>
          <a:solidFill>
            <a:srgbClr val="C8963C"/>
          </a:solidFill>
          <a:ln w="12700">
            <a:solidFill>
              <a:srgbClr val="D4A96A"/>
            </a:solidFill>
            <a:prstDash val="solid"/>
          </a:ln>
        </p:spPr>
      </p:sp>
      <p:sp>
        <p:nvSpPr>
          <p:cNvPr id="34" name="Text 32"/>
          <p:cNvSpPr/>
          <p:nvPr/>
        </p:nvSpPr>
        <p:spPr>
          <a:xfrm>
            <a:off x="347472" y="4407408"/>
            <a:ext cx="438912" cy="438912"/>
          </a:xfrm>
          <a:prstGeom prst="rect">
            <a:avLst/>
          </a:prstGeom>
          <a:noFill/>
          <a:ln/>
        </p:spPr>
        <p:txBody>
          <a:bodyPr wrap="square" lIns="0" tIns="0" rIns="0" bIns="0" rtlCol="0" anchor="ctr"/>
          <a:lstStyle/>
          <a:p>
            <a:pPr marL="0" indent="0" algn="ctr">
              <a:buNone/>
            </a:pPr>
            <a:r>
              <a:rPr lang="en-US" sz="1400" b="1" dirty="0">
                <a:solidFill>
                  <a:srgbClr val="2C1810"/>
                </a:solidFill>
                <a:latin typeface="Calibri" pitchFamily="34" charset="0"/>
                <a:ea typeface="Calibri" pitchFamily="34" charset="-122"/>
                <a:cs typeface="Calibri" pitchFamily="34" charset="-120"/>
              </a:rPr>
              <a:t>6</a:t>
            </a:r>
            <a:endParaRPr lang="en-US" sz="1400" dirty="0"/>
          </a:p>
        </p:txBody>
      </p:sp>
      <p:sp>
        <p:nvSpPr>
          <p:cNvPr id="35" name="Shape 33"/>
          <p:cNvSpPr/>
          <p:nvPr/>
        </p:nvSpPr>
        <p:spPr>
          <a:xfrm>
            <a:off x="932688" y="4315968"/>
            <a:ext cx="7882128" cy="585216"/>
          </a:xfrm>
          <a:prstGeom prst="rect">
            <a:avLst/>
          </a:prstGeom>
          <a:solidFill>
            <a:srgbClr val="1E100A"/>
          </a:solidFill>
          <a:ln w="12700">
            <a:solidFill>
              <a:srgbClr val="D4A96A"/>
            </a:solidFill>
            <a:prstDash val="solid"/>
          </a:ln>
        </p:spPr>
      </p:sp>
      <p:sp>
        <p:nvSpPr>
          <p:cNvPr id="36" name="Text 34"/>
          <p:cNvSpPr/>
          <p:nvPr/>
        </p:nvSpPr>
        <p:spPr>
          <a:xfrm>
            <a:off x="1024128" y="4389120"/>
            <a:ext cx="1417320" cy="420624"/>
          </a:xfrm>
          <a:prstGeom prst="rect">
            <a:avLst/>
          </a:prstGeom>
          <a:noFill/>
          <a:ln/>
        </p:spPr>
        <p:txBody>
          <a:bodyPr wrap="square" lIns="0" tIns="0" rIns="0" bIns="0" rtlCol="0" anchor="ctr"/>
          <a:lstStyle/>
          <a:p>
            <a:pPr marL="0" indent="0">
              <a:buNone/>
            </a:pPr>
            <a:r>
              <a:rPr lang="en-US" sz="1200" b="1" dirty="0">
                <a:solidFill>
                  <a:srgbClr val="C8963C"/>
                </a:solidFill>
                <a:latin typeface="Calibri" pitchFamily="34" charset="0"/>
                <a:ea typeface="Calibri" pitchFamily="34" charset="-122"/>
                <a:cs typeface="Calibri" pitchFamily="34" charset="-120"/>
              </a:rPr>
              <a:t>Classification Models:</a:t>
            </a:r>
            <a:endParaRPr lang="en-US" sz="1200" dirty="0"/>
          </a:p>
        </p:txBody>
      </p:sp>
      <p:sp>
        <p:nvSpPr>
          <p:cNvPr id="37" name="Text 35"/>
          <p:cNvSpPr/>
          <p:nvPr/>
        </p:nvSpPr>
        <p:spPr>
          <a:xfrm>
            <a:off x="2487168" y="4389120"/>
            <a:ext cx="6236208" cy="420624"/>
          </a:xfrm>
          <a:prstGeom prst="rect">
            <a:avLst/>
          </a:prstGeom>
          <a:noFill/>
          <a:ln/>
        </p:spPr>
        <p:txBody>
          <a:bodyPr wrap="square" lIns="0" tIns="0" rIns="0" bIns="0" rtlCol="0" anchor="ctr"/>
          <a:lstStyle/>
          <a:p>
            <a:pPr marL="0" indent="0">
              <a:buNone/>
            </a:pPr>
            <a:r>
              <a:rPr lang="en-US" sz="1150" dirty="0">
                <a:solidFill>
                  <a:srgbClr val="C8A880"/>
                </a:solidFill>
                <a:latin typeface="Calibri" pitchFamily="34" charset="0"/>
                <a:ea typeface="Calibri" pitchFamily="34" charset="-122"/>
                <a:cs typeface="Calibri" pitchFamily="34" charset="-120"/>
              </a:rPr>
              <a:t>Logistic, KNN, Decision Tree, SVM → GridSearchCV per model → Best: KNN (Accuracy : 94.04%)</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2C1810"/>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621792"/>
          </a:xfrm>
          <a:prstGeom prst="rect">
            <a:avLst/>
          </a:prstGeom>
          <a:noFill/>
          <a:ln/>
        </p:spPr>
        <p:txBody>
          <a:bodyPr wrap="square" lIns="0" tIns="0" rIns="0" bIns="0" rtlCol="0" anchor="ctr"/>
          <a:lstStyle/>
          <a:p>
            <a:pPr marL="0" indent="0">
              <a:buNone/>
            </a:pPr>
            <a:r>
              <a:rPr lang="en-US" sz="3600" dirty="0">
                <a:solidFill>
                  <a:srgbClr val="C8963C"/>
                </a:solidFill>
                <a:latin typeface="Georgia" pitchFamily="34" charset="0"/>
                <a:ea typeface="Georgia" pitchFamily="34" charset="-122"/>
                <a:cs typeface="Georgia" pitchFamily="34" charset="-120"/>
              </a:rPr>
              <a:t>Data Analysis</a:t>
            </a:r>
            <a:endParaRPr lang="en-US" sz="3600" dirty="0"/>
          </a:p>
        </p:txBody>
      </p:sp>
      <p:graphicFrame>
        <p:nvGraphicFramePr>
          <p:cNvPr id="3" name="Chart 0"/>
          <p:cNvGraphicFramePr/>
          <p:nvPr>
            <p:extLst>
              <p:ext uri="{D42A27DB-BD31-4B8C-83A1-F6EECF244321}">
                <p14:modId xmlns:p14="http://schemas.microsoft.com/office/powerpoint/2010/main" val="698668946"/>
              </p:ext>
            </p:extLst>
          </p:nvPr>
        </p:nvGraphicFramePr>
        <p:xfrm>
          <a:off x="320040" y="914400"/>
          <a:ext cx="420624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663440" y="914400"/>
          <a:ext cx="416052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320040" y="4133088"/>
            <a:ext cx="8503920" cy="896112"/>
          </a:xfrm>
          <a:prstGeom prst="rect">
            <a:avLst/>
          </a:prstGeom>
          <a:noFill/>
          <a:ln/>
        </p:spPr>
        <p:txBody>
          <a:bodyPr wrap="square" lIns="0" tIns="0" rIns="0" bIns="0" rtlCol="0" anchor="t"/>
          <a:lstStyle/>
          <a:p>
            <a:pPr marL="342900" indent="-342900">
              <a:lnSpc>
                <a:spcPct val="135000"/>
              </a:lnSpc>
              <a:buSzPct val="100000"/>
              <a:buChar char="•"/>
            </a:pPr>
            <a:r>
              <a:rPr lang="en-US" sz="1150" dirty="0">
                <a:solidFill>
                  <a:srgbClr val="C8A880"/>
                </a:solidFill>
                <a:latin typeface="Calibri" pitchFamily="34" charset="0"/>
                <a:ea typeface="Calibri" pitchFamily="34" charset="-122"/>
                <a:cs typeface="Calibri" pitchFamily="34" charset="-120"/>
              </a:rPr>
              <a:t>SVM achieves highest classification accuracy (~94%) after hyperparameter tuning</a:t>
            </a:r>
            <a:endParaRPr lang="en-US" sz="1150" dirty="0"/>
          </a:p>
          <a:p>
            <a:pPr marL="342900" indent="-342900">
              <a:lnSpc>
                <a:spcPct val="135000"/>
              </a:lnSpc>
              <a:buSzPct val="100000"/>
              <a:buChar char="•"/>
            </a:pPr>
            <a:r>
              <a:rPr lang="en-US" sz="1150" dirty="0">
                <a:solidFill>
                  <a:srgbClr val="C8A880"/>
                </a:solidFill>
                <a:latin typeface="Calibri" pitchFamily="34" charset="0"/>
                <a:ea typeface="Calibri" pitchFamily="34" charset="-122"/>
                <a:cs typeface="Calibri" pitchFamily="34" charset="-120"/>
              </a:rPr>
              <a:t>Ridge α=100 (strong regularization) is the best regression model: R²=0.8126</a:t>
            </a:r>
            <a:endParaRPr lang="en-US" sz="1150" dirty="0"/>
          </a:p>
          <a:p>
            <a:pPr marL="342900" indent="-342900">
              <a:lnSpc>
                <a:spcPct val="135000"/>
              </a:lnSpc>
              <a:buSzPct val="100000"/>
              <a:buChar char="•"/>
            </a:pPr>
            <a:r>
              <a:rPr lang="en-US" sz="1150" dirty="0">
                <a:solidFill>
                  <a:srgbClr val="C8A880"/>
                </a:solidFill>
                <a:latin typeface="Calibri" pitchFamily="34" charset="0"/>
                <a:ea typeface="Calibri" pitchFamily="34" charset="-122"/>
                <a:cs typeface="Calibri" pitchFamily="34" charset="-120"/>
              </a:rPr>
              <a:t>All classifiers improve after GridSearchCV — raw defaults are suboptimal</a:t>
            </a:r>
            <a:endParaRPr lang="en-US" sz="1150" dirty="0"/>
          </a:p>
          <a:p>
            <a:pPr marL="342900" indent="-342900">
              <a:lnSpc>
                <a:spcPct val="135000"/>
              </a:lnSpc>
              <a:buSzPct val="100000"/>
              <a:buChar char="•"/>
            </a:pPr>
            <a:r>
              <a:rPr lang="en-US" sz="1150" dirty="0">
                <a:solidFill>
                  <a:srgbClr val="C8A880"/>
                </a:solidFill>
                <a:latin typeface="Calibri" pitchFamily="34" charset="0"/>
                <a:ea typeface="Calibri" pitchFamily="34" charset="-122"/>
                <a:cs typeface="Calibri" pitchFamily="34" charset="-120"/>
              </a:rPr>
              <a:t>Both models validated with 5-fold CV — results are generalisable, not overfit</a:t>
            </a:r>
            <a:endParaRPr lang="en-US" sz="1150" dirty="0"/>
          </a:p>
        </p:txBody>
      </p:sp>
      <p:pic>
        <p:nvPicPr>
          <p:cNvPr id="7" name="Picture 6">
            <a:extLst>
              <a:ext uri="{FF2B5EF4-FFF2-40B4-BE49-F238E27FC236}">
                <a16:creationId xmlns:a16="http://schemas.microsoft.com/office/drawing/2014/main" id="{7A645C0A-D831-B78B-3992-A94816A27002}"/>
              </a:ext>
            </a:extLst>
          </p:cNvPr>
          <p:cNvPicPr>
            <a:picLocks noChangeAspect="1"/>
          </p:cNvPicPr>
          <p:nvPr/>
        </p:nvPicPr>
        <p:blipFill>
          <a:blip r:embed="rId5"/>
          <a:stretch>
            <a:fillRect/>
          </a:stretch>
        </p:blipFill>
        <p:spPr>
          <a:xfrm>
            <a:off x="0" y="0"/>
            <a:ext cx="9144000" cy="5143500"/>
          </a:xfrm>
          <a:prstGeom prst="rect">
            <a:avLst/>
          </a:prstGeom>
        </p:spPr>
      </p:pic>
      <p:pic>
        <p:nvPicPr>
          <p:cNvPr id="9" name="Picture 8">
            <a:extLst>
              <a:ext uri="{FF2B5EF4-FFF2-40B4-BE49-F238E27FC236}">
                <a16:creationId xmlns:a16="http://schemas.microsoft.com/office/drawing/2014/main" id="{4612B2E3-8440-7677-A0A2-924198914C09}"/>
              </a:ext>
            </a:extLst>
          </p:cNvPr>
          <p:cNvPicPr>
            <a:picLocks noChangeAspect="1"/>
          </p:cNvPicPr>
          <p:nvPr/>
        </p:nvPicPr>
        <p:blipFill>
          <a:blip r:embed="rId6"/>
          <a:stretch>
            <a:fillRect/>
          </a:stretch>
        </p:blipFill>
        <p:spPr>
          <a:xfrm>
            <a:off x="0" y="0"/>
            <a:ext cx="9144000" cy="5143500"/>
          </a:xfrm>
          <a:prstGeom prst="rect">
            <a:avLst/>
          </a:prstGeom>
        </p:spPr>
      </p:pic>
      <p:sp>
        <p:nvSpPr>
          <p:cNvPr id="6" name="Shape 14">
            <a:extLst>
              <a:ext uri="{FF2B5EF4-FFF2-40B4-BE49-F238E27FC236}">
                <a16:creationId xmlns:a16="http://schemas.microsoft.com/office/drawing/2014/main" id="{4F891755-3FCB-2B57-3B91-51D3E6E56924}"/>
              </a:ext>
            </a:extLst>
          </p:cNvPr>
          <p:cNvSpPr/>
          <p:nvPr/>
        </p:nvSpPr>
        <p:spPr>
          <a:xfrm>
            <a:off x="7990702" y="4588476"/>
            <a:ext cx="825019" cy="312791"/>
          </a:xfrm>
          <a:prstGeom prst="rect">
            <a:avLst/>
          </a:prstGeom>
          <a:solidFill>
            <a:srgbClr val="2C1810"/>
          </a:solidFill>
          <a:ln w="12700">
            <a:solidFill>
              <a:srgbClr val="2C1810"/>
            </a:solidFill>
            <a:prstDash val="solid"/>
          </a:ln>
        </p:spPr>
        <p:txBody>
          <a:bodyPr/>
          <a:lstStyle/>
          <a:p>
            <a:endParaRPr lang="en-IN" dirty="0"/>
          </a:p>
        </p:txBody>
      </p:sp>
      <p:sp>
        <p:nvSpPr>
          <p:cNvPr id="8" name="Shape 14">
            <a:extLst>
              <a:ext uri="{FF2B5EF4-FFF2-40B4-BE49-F238E27FC236}">
                <a16:creationId xmlns:a16="http://schemas.microsoft.com/office/drawing/2014/main" id="{E318D1EE-DE17-3129-3522-008501488CA9}"/>
              </a:ext>
            </a:extLst>
          </p:cNvPr>
          <p:cNvSpPr/>
          <p:nvPr/>
        </p:nvSpPr>
        <p:spPr>
          <a:xfrm>
            <a:off x="8844141" y="4617306"/>
            <a:ext cx="110387" cy="312791"/>
          </a:xfrm>
          <a:prstGeom prst="rect">
            <a:avLst/>
          </a:prstGeom>
          <a:solidFill>
            <a:srgbClr val="2C1810"/>
          </a:solidFill>
          <a:ln w="12700">
            <a:solidFill>
              <a:srgbClr val="2C1810"/>
            </a:solidFill>
            <a:prstDash val="solid"/>
          </a:ln>
        </p:spPr>
        <p:txBody>
          <a:bodyPr/>
          <a:lstStyle/>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DF0D5"/>
        </a:solidFill>
        <a:effectLst/>
      </p:bgPr>
    </p:bg>
    <p:spTree>
      <p:nvGrpSpPr>
        <p:cNvPr id="1" name=""/>
        <p:cNvGrpSpPr/>
        <p:nvPr/>
      </p:nvGrpSpPr>
      <p:grpSpPr>
        <a:xfrm>
          <a:off x="0" y="0"/>
          <a:ext cx="0" cy="0"/>
          <a:chOff x="0" y="0"/>
          <a:chExt cx="0" cy="0"/>
        </a:xfrm>
      </p:grpSpPr>
      <p:sp>
        <p:nvSpPr>
          <p:cNvPr id="2" name="Shape 0"/>
          <p:cNvSpPr/>
          <p:nvPr/>
        </p:nvSpPr>
        <p:spPr>
          <a:xfrm>
            <a:off x="-121920" y="-121920"/>
            <a:ext cx="3962400" cy="5265420"/>
          </a:xfrm>
          <a:prstGeom prst="rect">
            <a:avLst/>
          </a:prstGeom>
          <a:solidFill>
            <a:srgbClr val="2C1810"/>
          </a:solidFill>
          <a:ln w="12700">
            <a:solidFill>
              <a:srgbClr val="2C1810"/>
            </a:solidFill>
            <a:prstDash val="solid"/>
          </a:ln>
        </p:spPr>
      </p:sp>
      <p:sp>
        <p:nvSpPr>
          <p:cNvPr id="3" name="Shape 1"/>
          <p:cNvSpPr/>
          <p:nvPr/>
        </p:nvSpPr>
        <p:spPr>
          <a:xfrm>
            <a:off x="0" y="4114800"/>
            <a:ext cx="3840480" cy="1028700"/>
          </a:xfrm>
          <a:prstGeom prst="rect">
            <a:avLst/>
          </a:prstGeom>
          <a:solidFill>
            <a:srgbClr val="3E1E08"/>
          </a:solidFill>
          <a:ln w="12700">
            <a:solidFill>
              <a:srgbClr val="3E1E08"/>
            </a:solidFill>
            <a:prstDash val="solid"/>
          </a:ln>
        </p:spPr>
      </p:sp>
      <p:sp>
        <p:nvSpPr>
          <p:cNvPr id="4" name="Text 2"/>
          <p:cNvSpPr/>
          <p:nvPr/>
        </p:nvSpPr>
        <p:spPr>
          <a:xfrm>
            <a:off x="256032" y="256032"/>
            <a:ext cx="3429000" cy="685800"/>
          </a:xfrm>
          <a:prstGeom prst="rect">
            <a:avLst/>
          </a:prstGeom>
          <a:noFill/>
          <a:ln/>
        </p:spPr>
        <p:txBody>
          <a:bodyPr wrap="square" lIns="0" tIns="0" rIns="0" bIns="0" rtlCol="0" anchor="ctr"/>
          <a:lstStyle/>
          <a:p>
            <a:pPr marL="0" indent="0">
              <a:buNone/>
            </a:pPr>
            <a:r>
              <a:rPr lang="en-US" sz="3800" dirty="0">
                <a:solidFill>
                  <a:srgbClr val="C8963C"/>
                </a:solidFill>
                <a:latin typeface="Georgia" pitchFamily="34" charset="0"/>
                <a:ea typeface="Georgia" pitchFamily="34" charset="-122"/>
                <a:cs typeface="Georgia" pitchFamily="34" charset="-120"/>
              </a:rPr>
              <a:t>Conclusion</a:t>
            </a:r>
            <a:endParaRPr lang="en-US" sz="3800" dirty="0"/>
          </a:p>
        </p:txBody>
      </p:sp>
      <p:sp>
        <p:nvSpPr>
          <p:cNvPr id="5" name="Text 3"/>
          <p:cNvSpPr/>
          <p:nvPr/>
        </p:nvSpPr>
        <p:spPr>
          <a:xfrm>
            <a:off x="256032" y="1024128"/>
            <a:ext cx="3429000" cy="2743200"/>
          </a:xfrm>
          <a:prstGeom prst="rect">
            <a:avLst/>
          </a:prstGeom>
          <a:noFill/>
          <a:ln/>
        </p:spPr>
        <p:txBody>
          <a:bodyPr wrap="square" lIns="0" tIns="0" rIns="0" bIns="0" rtlCol="0" anchor="t"/>
          <a:lstStyle/>
          <a:p>
            <a:pPr marL="0" indent="0">
              <a:lnSpc>
                <a:spcPct val="135000"/>
              </a:lnSpc>
              <a:buNone/>
            </a:pPr>
            <a:r>
              <a:rPr lang="en-US" sz="1200" dirty="0">
                <a:solidFill>
                  <a:srgbClr val="FFFFFF"/>
                </a:solidFill>
                <a:latin typeface="Calibri" pitchFamily="34" charset="0"/>
                <a:ea typeface="Calibri" pitchFamily="34" charset="-122"/>
                <a:cs typeface="Calibri" pitchFamily="34" charset="-120"/>
              </a:rPr>
              <a:t>This project successfully demonstrates that life expectancy can be predicted and classified using WHO socioeconomic and health data.</a:t>
            </a:r>
            <a:endParaRPr lang="en-US" sz="1200" dirty="0"/>
          </a:p>
          <a:p>
            <a:pPr marL="0" indent="0">
              <a:lnSpc>
                <a:spcPct val="135000"/>
              </a:lnSpc>
              <a:buNone/>
            </a:pPr>
            <a:endParaRPr lang="en-US" sz="1200" dirty="0"/>
          </a:p>
          <a:p>
            <a:pPr marL="0" indent="0">
              <a:lnSpc>
                <a:spcPct val="135000"/>
              </a:lnSpc>
              <a:buNone/>
            </a:pPr>
            <a:r>
              <a:rPr lang="en-US" sz="1200" dirty="0">
                <a:solidFill>
                  <a:srgbClr val="FFFFFF"/>
                </a:solidFill>
                <a:latin typeface="Calibri" pitchFamily="34" charset="0"/>
                <a:ea typeface="Calibri" pitchFamily="34" charset="-122"/>
                <a:cs typeface="Calibri" pitchFamily="34" charset="-120"/>
              </a:rPr>
              <a:t>REGRESSION: Ridge (α=10) achieved R²=0.8534, explaining 85.3% of variance across 193 countries.</a:t>
            </a:r>
            <a:endParaRPr lang="en-US" sz="1200" dirty="0"/>
          </a:p>
          <a:p>
            <a:pPr marL="0" indent="0">
              <a:lnSpc>
                <a:spcPct val="135000"/>
              </a:lnSpc>
              <a:buNone/>
            </a:pPr>
            <a:endParaRPr lang="en-US" sz="1200" dirty="0"/>
          </a:p>
          <a:p>
            <a:pPr marL="0" indent="0">
              <a:lnSpc>
                <a:spcPct val="135000"/>
              </a:lnSpc>
              <a:buNone/>
            </a:pPr>
            <a:r>
              <a:rPr lang="en-US" sz="1200" dirty="0">
                <a:solidFill>
                  <a:srgbClr val="FFFFFF"/>
                </a:solidFill>
                <a:latin typeface="Calibri" pitchFamily="34" charset="0"/>
                <a:ea typeface="Calibri" pitchFamily="34" charset="-122"/>
                <a:cs typeface="Calibri" pitchFamily="34" charset="-120"/>
              </a:rPr>
              <a:t>CLASSIFICATION: KNN achieved the best accuracy classifying countries as high or low life expectancy.</a:t>
            </a:r>
            <a:endParaRPr lang="en-US" sz="1200" dirty="0"/>
          </a:p>
          <a:p>
            <a:pPr marL="0" indent="0">
              <a:lnSpc>
                <a:spcPct val="135000"/>
              </a:lnSpc>
              <a:buNone/>
            </a:pPr>
            <a:endParaRPr lang="en-US" sz="1200" dirty="0"/>
          </a:p>
          <a:p>
            <a:pPr marL="0" indent="0">
              <a:lnSpc>
                <a:spcPct val="135000"/>
              </a:lnSpc>
              <a:buNone/>
            </a:pPr>
            <a:r>
              <a:rPr lang="en-US" sz="1200" dirty="0">
                <a:solidFill>
                  <a:srgbClr val="FFFFFF"/>
                </a:solidFill>
                <a:latin typeface="Calibri" pitchFamily="34" charset="0"/>
                <a:ea typeface="Calibri" pitchFamily="34" charset="-122"/>
                <a:cs typeface="Calibri" pitchFamily="34" charset="-120"/>
              </a:rPr>
              <a:t>KEY DRIVERS: Schooling, Income Composition, and Adult Mortality are most influential.</a:t>
            </a:r>
            <a:endParaRPr lang="en-US" sz="1200" dirty="0"/>
          </a:p>
        </p:txBody>
      </p:sp>
      <p:sp>
        <p:nvSpPr>
          <p:cNvPr id="6" name="Text 4"/>
          <p:cNvSpPr/>
          <p:nvPr/>
        </p:nvSpPr>
        <p:spPr>
          <a:xfrm>
            <a:off x="256032" y="4224528"/>
            <a:ext cx="3429000" cy="384048"/>
          </a:xfrm>
          <a:prstGeom prst="rect">
            <a:avLst/>
          </a:prstGeom>
          <a:noFill/>
          <a:ln/>
        </p:spPr>
        <p:txBody>
          <a:bodyPr wrap="square" lIns="0" tIns="0" rIns="0" bIns="0" rtlCol="0" anchor="ctr"/>
          <a:lstStyle/>
          <a:p>
            <a:pPr marL="0" indent="0">
              <a:buNone/>
            </a:pPr>
            <a:r>
              <a:rPr lang="en-US" sz="1050" i="1" dirty="0">
                <a:solidFill>
                  <a:srgbClr val="D4A96A"/>
                </a:solidFill>
                <a:latin typeface="Calibri" pitchFamily="34" charset="0"/>
                <a:ea typeface="Calibri" pitchFamily="34" charset="-122"/>
                <a:cs typeface="Calibri" pitchFamily="34" charset="-120"/>
              </a:rPr>
              <a:t>Future: XGBoost, Neural Networks</a:t>
            </a:r>
            <a:endParaRPr lang="en-US" sz="1050" dirty="0"/>
          </a:p>
        </p:txBody>
      </p:sp>
      <p:sp>
        <p:nvSpPr>
          <p:cNvPr id="7" name="Text 5"/>
          <p:cNvSpPr/>
          <p:nvPr/>
        </p:nvSpPr>
        <p:spPr>
          <a:xfrm>
            <a:off x="4069080" y="256032"/>
            <a:ext cx="4846320" cy="475488"/>
          </a:xfrm>
          <a:prstGeom prst="rect">
            <a:avLst/>
          </a:prstGeom>
          <a:noFill/>
          <a:ln/>
        </p:spPr>
        <p:txBody>
          <a:bodyPr wrap="square" lIns="0" tIns="0" rIns="0" bIns="0" rtlCol="0" anchor="ctr"/>
          <a:lstStyle/>
          <a:p>
            <a:pPr marL="0" indent="0">
              <a:buNone/>
            </a:pPr>
            <a:r>
              <a:rPr lang="en-US" sz="2000" dirty="0">
                <a:solidFill>
                  <a:srgbClr val="5C3317"/>
                </a:solidFill>
                <a:latin typeface="Georgia" pitchFamily="34" charset="0"/>
                <a:ea typeface="Georgia" pitchFamily="34" charset="-122"/>
                <a:cs typeface="Georgia" pitchFamily="34" charset="-120"/>
              </a:rPr>
              <a:t>Key Achievements</a:t>
            </a:r>
            <a:endParaRPr lang="en-US" sz="2000" dirty="0"/>
          </a:p>
        </p:txBody>
      </p:sp>
      <p:sp>
        <p:nvSpPr>
          <p:cNvPr id="8" name="Shape 6"/>
          <p:cNvSpPr/>
          <p:nvPr/>
        </p:nvSpPr>
        <p:spPr>
          <a:xfrm>
            <a:off x="4069080" y="896112"/>
            <a:ext cx="2304288" cy="1719072"/>
          </a:xfrm>
          <a:prstGeom prst="rect">
            <a:avLst/>
          </a:prstGeom>
          <a:solidFill>
            <a:srgbClr val="FFFFFF"/>
          </a:solidFill>
          <a:ln w="12700">
            <a:solidFill>
              <a:srgbClr val="C8963C"/>
            </a:solidFill>
            <a:prstDash val="solid"/>
          </a:ln>
        </p:spPr>
      </p:sp>
      <p:sp>
        <p:nvSpPr>
          <p:cNvPr id="9" name="Text 7"/>
          <p:cNvSpPr/>
          <p:nvPr/>
        </p:nvSpPr>
        <p:spPr>
          <a:xfrm>
            <a:off x="4069080" y="1097280"/>
            <a:ext cx="2304288" cy="713232"/>
          </a:xfrm>
          <a:prstGeom prst="rect">
            <a:avLst/>
          </a:prstGeom>
          <a:noFill/>
          <a:ln/>
        </p:spPr>
        <p:txBody>
          <a:bodyPr wrap="square" lIns="0" tIns="0" rIns="0" bIns="0" rtlCol="0" anchor="ctr"/>
          <a:lstStyle/>
          <a:p>
            <a:pPr marL="0" indent="0" algn="ctr">
              <a:buNone/>
            </a:pPr>
            <a:r>
              <a:rPr lang="en-US" sz="2800" b="1" dirty="0">
                <a:solidFill>
                  <a:srgbClr val="5C3317"/>
                </a:solidFill>
                <a:latin typeface="Franklin Gothic Medium" panose="020B0603020102020204" pitchFamily="34" charset="0"/>
                <a:ea typeface="Georgia" pitchFamily="34" charset="-122"/>
                <a:cs typeface="Georgia" pitchFamily="34" charset="-120"/>
              </a:rPr>
              <a:t>0.8534</a:t>
            </a:r>
            <a:endParaRPr lang="en-US" sz="2800" dirty="0">
              <a:latin typeface="Franklin Gothic Medium" panose="020B0603020102020204" pitchFamily="34" charset="0"/>
            </a:endParaRPr>
          </a:p>
        </p:txBody>
      </p:sp>
      <p:sp>
        <p:nvSpPr>
          <p:cNvPr id="10" name="Text 8"/>
          <p:cNvSpPr/>
          <p:nvPr/>
        </p:nvSpPr>
        <p:spPr>
          <a:xfrm>
            <a:off x="4069080" y="1874520"/>
            <a:ext cx="2304288" cy="594360"/>
          </a:xfrm>
          <a:prstGeom prst="rect">
            <a:avLst/>
          </a:prstGeom>
          <a:noFill/>
          <a:ln/>
        </p:spPr>
        <p:txBody>
          <a:bodyPr wrap="square" lIns="0" tIns="0" rIns="0" bIns="0" rtlCol="0" anchor="ctr"/>
          <a:lstStyle/>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Best R²</a:t>
            </a:r>
            <a:endParaRPr lang="en-US" sz="1100" dirty="0"/>
          </a:p>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Ridge α=10</a:t>
            </a:r>
            <a:endParaRPr lang="en-US" sz="1100" dirty="0"/>
          </a:p>
        </p:txBody>
      </p:sp>
      <p:sp>
        <p:nvSpPr>
          <p:cNvPr id="11" name="Shape 9"/>
          <p:cNvSpPr/>
          <p:nvPr/>
        </p:nvSpPr>
        <p:spPr>
          <a:xfrm>
            <a:off x="6537960" y="896112"/>
            <a:ext cx="2304288" cy="1719072"/>
          </a:xfrm>
          <a:prstGeom prst="rect">
            <a:avLst/>
          </a:prstGeom>
          <a:solidFill>
            <a:srgbClr val="FFFFFF"/>
          </a:solidFill>
          <a:ln w="12700">
            <a:solidFill>
              <a:srgbClr val="C8963C"/>
            </a:solidFill>
            <a:prstDash val="solid"/>
          </a:ln>
        </p:spPr>
      </p:sp>
      <p:sp>
        <p:nvSpPr>
          <p:cNvPr id="12" name="Text 10"/>
          <p:cNvSpPr/>
          <p:nvPr/>
        </p:nvSpPr>
        <p:spPr>
          <a:xfrm>
            <a:off x="6537960" y="1097280"/>
            <a:ext cx="2304288" cy="713232"/>
          </a:xfrm>
          <a:prstGeom prst="rect">
            <a:avLst/>
          </a:prstGeom>
          <a:noFill/>
          <a:ln/>
        </p:spPr>
        <p:txBody>
          <a:bodyPr wrap="square" lIns="0" tIns="0" rIns="0" bIns="0" rtlCol="0" anchor="ctr"/>
          <a:lstStyle/>
          <a:p>
            <a:pPr marL="0" indent="0" algn="ctr">
              <a:buNone/>
            </a:pPr>
            <a:r>
              <a:rPr lang="en-US" sz="2800" b="1" dirty="0">
                <a:solidFill>
                  <a:srgbClr val="5C3317"/>
                </a:solidFill>
                <a:latin typeface="Georgia" pitchFamily="34" charset="0"/>
                <a:ea typeface="Georgia" pitchFamily="34" charset="-122"/>
                <a:cs typeface="Georgia" pitchFamily="34" charset="-120"/>
              </a:rPr>
              <a:t>~94%</a:t>
            </a:r>
            <a:endParaRPr lang="en-US" sz="2800" dirty="0"/>
          </a:p>
        </p:txBody>
      </p:sp>
      <p:sp>
        <p:nvSpPr>
          <p:cNvPr id="13" name="Text 11"/>
          <p:cNvSpPr/>
          <p:nvPr/>
        </p:nvSpPr>
        <p:spPr>
          <a:xfrm>
            <a:off x="6537960" y="1874520"/>
            <a:ext cx="2304288" cy="594360"/>
          </a:xfrm>
          <a:prstGeom prst="rect">
            <a:avLst/>
          </a:prstGeom>
          <a:noFill/>
          <a:ln/>
        </p:spPr>
        <p:txBody>
          <a:bodyPr wrap="square" lIns="0" tIns="0" rIns="0" bIns="0" rtlCol="0" anchor="ctr"/>
          <a:lstStyle/>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Best accuracy</a:t>
            </a:r>
            <a:endParaRPr lang="en-US" sz="1100" dirty="0"/>
          </a:p>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KNN classifier</a:t>
            </a:r>
            <a:endParaRPr lang="en-US" sz="1100" dirty="0"/>
          </a:p>
        </p:txBody>
      </p:sp>
      <p:sp>
        <p:nvSpPr>
          <p:cNvPr id="14" name="Shape 12"/>
          <p:cNvSpPr/>
          <p:nvPr/>
        </p:nvSpPr>
        <p:spPr>
          <a:xfrm>
            <a:off x="4069080" y="2816352"/>
            <a:ext cx="2304288" cy="1719072"/>
          </a:xfrm>
          <a:prstGeom prst="rect">
            <a:avLst/>
          </a:prstGeom>
          <a:solidFill>
            <a:srgbClr val="FFFFFF"/>
          </a:solidFill>
          <a:ln w="12700">
            <a:solidFill>
              <a:srgbClr val="C8963C"/>
            </a:solidFill>
            <a:prstDash val="solid"/>
          </a:ln>
        </p:spPr>
      </p:sp>
      <p:sp>
        <p:nvSpPr>
          <p:cNvPr id="15" name="Text 13"/>
          <p:cNvSpPr/>
          <p:nvPr/>
        </p:nvSpPr>
        <p:spPr>
          <a:xfrm>
            <a:off x="4069080" y="3017520"/>
            <a:ext cx="2304288" cy="713232"/>
          </a:xfrm>
          <a:prstGeom prst="rect">
            <a:avLst/>
          </a:prstGeom>
          <a:noFill/>
          <a:ln/>
        </p:spPr>
        <p:txBody>
          <a:bodyPr wrap="square" lIns="0" tIns="0" rIns="0" bIns="0" rtlCol="0" anchor="ctr"/>
          <a:lstStyle/>
          <a:p>
            <a:pPr marL="0" indent="0" algn="ctr">
              <a:buNone/>
            </a:pPr>
            <a:r>
              <a:rPr lang="en-US" sz="2800" b="1" dirty="0">
                <a:solidFill>
                  <a:srgbClr val="5C3317"/>
                </a:solidFill>
                <a:latin typeface="Georgia" pitchFamily="34" charset="0"/>
                <a:ea typeface="Georgia" pitchFamily="34" charset="-122"/>
                <a:cs typeface="Georgia" pitchFamily="34" charset="-120"/>
              </a:rPr>
              <a:t>7</a:t>
            </a:r>
            <a:endParaRPr lang="en-US" sz="2800" dirty="0"/>
          </a:p>
        </p:txBody>
      </p:sp>
      <p:sp>
        <p:nvSpPr>
          <p:cNvPr id="16" name="Text 14"/>
          <p:cNvSpPr/>
          <p:nvPr/>
        </p:nvSpPr>
        <p:spPr>
          <a:xfrm>
            <a:off x="4069080" y="3794760"/>
            <a:ext cx="2304288" cy="594360"/>
          </a:xfrm>
          <a:prstGeom prst="rect">
            <a:avLst/>
          </a:prstGeom>
          <a:noFill/>
          <a:ln/>
        </p:spPr>
        <p:txBody>
          <a:bodyPr wrap="square" lIns="0" tIns="0" rIns="0" bIns="0" rtlCol="0" anchor="ctr"/>
          <a:lstStyle/>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Total models</a:t>
            </a:r>
            <a:endParaRPr lang="en-US" sz="1100" dirty="0"/>
          </a:p>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trained &amp; tuned</a:t>
            </a:r>
            <a:endParaRPr lang="en-US" sz="1100" dirty="0"/>
          </a:p>
        </p:txBody>
      </p:sp>
      <p:sp>
        <p:nvSpPr>
          <p:cNvPr id="17" name="Shape 15"/>
          <p:cNvSpPr/>
          <p:nvPr/>
        </p:nvSpPr>
        <p:spPr>
          <a:xfrm>
            <a:off x="6537960" y="2816352"/>
            <a:ext cx="2304288" cy="1719072"/>
          </a:xfrm>
          <a:prstGeom prst="rect">
            <a:avLst/>
          </a:prstGeom>
          <a:solidFill>
            <a:srgbClr val="FFFFFF"/>
          </a:solidFill>
          <a:ln w="12700">
            <a:solidFill>
              <a:srgbClr val="C8963C"/>
            </a:solidFill>
            <a:prstDash val="solid"/>
          </a:ln>
        </p:spPr>
      </p:sp>
      <p:sp>
        <p:nvSpPr>
          <p:cNvPr id="18" name="Text 16"/>
          <p:cNvSpPr/>
          <p:nvPr/>
        </p:nvSpPr>
        <p:spPr>
          <a:xfrm>
            <a:off x="6537960" y="3017520"/>
            <a:ext cx="2304288" cy="713232"/>
          </a:xfrm>
          <a:prstGeom prst="rect">
            <a:avLst/>
          </a:prstGeom>
          <a:noFill/>
          <a:ln/>
        </p:spPr>
        <p:txBody>
          <a:bodyPr wrap="square" lIns="0" tIns="0" rIns="0" bIns="0" rtlCol="0" anchor="ctr"/>
          <a:lstStyle/>
          <a:p>
            <a:pPr marL="0" indent="0" algn="ctr">
              <a:buNone/>
            </a:pPr>
            <a:r>
              <a:rPr lang="en-US" sz="2800" b="1" dirty="0">
                <a:solidFill>
                  <a:srgbClr val="5C3317"/>
                </a:solidFill>
                <a:latin typeface="Franklin Gothic Medium" panose="020B0603020102020204" pitchFamily="34" charset="0"/>
                <a:ea typeface="Georgia" pitchFamily="34" charset="-122"/>
                <a:cs typeface="Georgia" pitchFamily="34" charset="-120"/>
              </a:rPr>
              <a:t>5 - fold</a:t>
            </a:r>
            <a:endParaRPr lang="en-US" sz="2800" dirty="0">
              <a:latin typeface="Franklin Gothic Medium" panose="020B0603020102020204" pitchFamily="34" charset="0"/>
            </a:endParaRPr>
          </a:p>
        </p:txBody>
      </p:sp>
      <p:sp>
        <p:nvSpPr>
          <p:cNvPr id="19" name="Text 17"/>
          <p:cNvSpPr/>
          <p:nvPr/>
        </p:nvSpPr>
        <p:spPr>
          <a:xfrm>
            <a:off x="6537960" y="3794760"/>
            <a:ext cx="2304288" cy="594360"/>
          </a:xfrm>
          <a:prstGeom prst="rect">
            <a:avLst/>
          </a:prstGeom>
          <a:noFill/>
          <a:ln/>
        </p:spPr>
        <p:txBody>
          <a:bodyPr wrap="square" lIns="0" tIns="0" rIns="0" bIns="0" rtlCol="0" anchor="ctr"/>
          <a:lstStyle/>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Cross-validation</a:t>
            </a:r>
            <a:endParaRPr lang="en-US" sz="1100" dirty="0"/>
          </a:p>
          <a:p>
            <a:pPr marL="0" indent="0" algn="ctr">
              <a:lnSpc>
                <a:spcPct val="115000"/>
              </a:lnSpc>
              <a:buNone/>
            </a:pPr>
            <a:r>
              <a:rPr lang="en-US" sz="1100" dirty="0">
                <a:solidFill>
                  <a:srgbClr val="8A7060"/>
                </a:solidFill>
                <a:latin typeface="Calibri" pitchFamily="34" charset="0"/>
                <a:ea typeface="Calibri" pitchFamily="34" charset="-122"/>
                <a:cs typeface="Calibri" pitchFamily="34" charset="-120"/>
              </a:rPr>
              <a:t>on all models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963C"/>
          </a:solidFill>
          <a:ln w="12700">
            <a:solidFill>
              <a:srgbClr val="C8963C"/>
            </a:solidFill>
            <a:prstDash val="solid"/>
          </a:ln>
        </p:spPr>
      </p:sp>
      <p:sp>
        <p:nvSpPr>
          <p:cNvPr id="3" name="Text 1"/>
          <p:cNvSpPr/>
          <p:nvPr/>
        </p:nvSpPr>
        <p:spPr>
          <a:xfrm>
            <a:off x="347472" y="201168"/>
            <a:ext cx="8412480" cy="640080"/>
          </a:xfrm>
          <a:prstGeom prst="rect">
            <a:avLst/>
          </a:prstGeom>
          <a:noFill/>
          <a:ln/>
        </p:spPr>
        <p:txBody>
          <a:bodyPr wrap="square" lIns="0" tIns="0" rIns="0" bIns="0" rtlCol="0" anchor="ctr"/>
          <a:lstStyle/>
          <a:p>
            <a:pPr marL="0" indent="0">
              <a:buNone/>
            </a:pPr>
            <a:r>
              <a:rPr lang="en-US" sz="3800" dirty="0">
                <a:solidFill>
                  <a:srgbClr val="5C3317"/>
                </a:solidFill>
                <a:latin typeface="Georgia" pitchFamily="34" charset="0"/>
                <a:ea typeface="Georgia" pitchFamily="34" charset="-122"/>
                <a:cs typeface="Georgia" pitchFamily="34" charset="-120"/>
              </a:rPr>
              <a:t>References</a:t>
            </a:r>
            <a:endParaRPr lang="en-US" sz="3800" dirty="0"/>
          </a:p>
        </p:txBody>
      </p:sp>
      <p:sp>
        <p:nvSpPr>
          <p:cNvPr id="4" name="Shape 2"/>
          <p:cNvSpPr/>
          <p:nvPr/>
        </p:nvSpPr>
        <p:spPr>
          <a:xfrm>
            <a:off x="347472" y="1005840"/>
            <a:ext cx="8476488" cy="530352"/>
          </a:xfrm>
          <a:prstGeom prst="rect">
            <a:avLst/>
          </a:prstGeom>
          <a:solidFill>
            <a:srgbClr val="FFFFFF"/>
          </a:solidFill>
          <a:ln w="12700">
            <a:solidFill>
              <a:srgbClr val="D4A96A"/>
            </a:solidFill>
            <a:prstDash val="solid"/>
          </a:ln>
        </p:spPr>
      </p:sp>
      <p:sp>
        <p:nvSpPr>
          <p:cNvPr id="5" name="Text 3"/>
          <p:cNvSpPr/>
          <p:nvPr/>
        </p:nvSpPr>
        <p:spPr>
          <a:xfrm>
            <a:off x="502920" y="100584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1.  WHO Life Expectancy Dataset. Kaggle. https://www.kaggle.com/datasets/kumarajarshi/life-expectancy-who</a:t>
            </a:r>
            <a:endParaRPr lang="en-US" sz="1200" dirty="0"/>
          </a:p>
        </p:txBody>
      </p:sp>
      <p:sp>
        <p:nvSpPr>
          <p:cNvPr id="6" name="Shape 4"/>
          <p:cNvSpPr/>
          <p:nvPr/>
        </p:nvSpPr>
        <p:spPr>
          <a:xfrm>
            <a:off x="347472" y="1645920"/>
            <a:ext cx="8476488" cy="530352"/>
          </a:xfrm>
          <a:prstGeom prst="rect">
            <a:avLst/>
          </a:prstGeom>
          <a:solidFill>
            <a:srgbClr val="F5F0E8"/>
          </a:solidFill>
          <a:ln w="12700">
            <a:solidFill>
              <a:srgbClr val="D4A96A"/>
            </a:solidFill>
            <a:prstDash val="solid"/>
          </a:ln>
        </p:spPr>
      </p:sp>
      <p:sp>
        <p:nvSpPr>
          <p:cNvPr id="7" name="Text 5"/>
          <p:cNvSpPr/>
          <p:nvPr/>
        </p:nvSpPr>
        <p:spPr>
          <a:xfrm>
            <a:off x="502920" y="164592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2.  Pedregosa, F. et al. (2011). Scikit-learn: Machine Learning in Python. JMLR, 12, 2825–2830.</a:t>
            </a:r>
            <a:endParaRPr lang="en-US" sz="1200" dirty="0"/>
          </a:p>
        </p:txBody>
      </p:sp>
      <p:sp>
        <p:nvSpPr>
          <p:cNvPr id="8" name="Shape 6"/>
          <p:cNvSpPr/>
          <p:nvPr/>
        </p:nvSpPr>
        <p:spPr>
          <a:xfrm>
            <a:off x="347472" y="2286000"/>
            <a:ext cx="8476488" cy="530352"/>
          </a:xfrm>
          <a:prstGeom prst="rect">
            <a:avLst/>
          </a:prstGeom>
          <a:solidFill>
            <a:srgbClr val="FFFFFF"/>
          </a:solidFill>
          <a:ln w="12700">
            <a:solidFill>
              <a:srgbClr val="D4A96A"/>
            </a:solidFill>
            <a:prstDash val="solid"/>
          </a:ln>
        </p:spPr>
      </p:sp>
      <p:sp>
        <p:nvSpPr>
          <p:cNvPr id="9" name="Text 7"/>
          <p:cNvSpPr/>
          <p:nvPr/>
        </p:nvSpPr>
        <p:spPr>
          <a:xfrm>
            <a:off x="502920" y="228600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3.  Raschka, S., &amp; Mirjalili, V. (2019). Python Machine Learning. Packt Publishing.</a:t>
            </a:r>
            <a:endParaRPr lang="en-US" sz="1200" dirty="0"/>
          </a:p>
        </p:txBody>
      </p:sp>
      <p:sp>
        <p:nvSpPr>
          <p:cNvPr id="10" name="Shape 8"/>
          <p:cNvSpPr/>
          <p:nvPr/>
        </p:nvSpPr>
        <p:spPr>
          <a:xfrm>
            <a:off x="347472" y="2926080"/>
            <a:ext cx="8476488" cy="530352"/>
          </a:xfrm>
          <a:prstGeom prst="rect">
            <a:avLst/>
          </a:prstGeom>
          <a:solidFill>
            <a:srgbClr val="F5F0E8"/>
          </a:solidFill>
          <a:ln w="12700">
            <a:solidFill>
              <a:srgbClr val="D4A96A"/>
            </a:solidFill>
            <a:prstDash val="solid"/>
          </a:ln>
        </p:spPr>
      </p:sp>
      <p:sp>
        <p:nvSpPr>
          <p:cNvPr id="11" name="Text 9"/>
          <p:cNvSpPr/>
          <p:nvPr/>
        </p:nvSpPr>
        <p:spPr>
          <a:xfrm>
            <a:off x="502920" y="292608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4.  McKinney, W. (2010). Data Structures for Statistical Computing in Python. SciPy Conf., 51–56.</a:t>
            </a:r>
            <a:endParaRPr lang="en-US" sz="1200" dirty="0"/>
          </a:p>
        </p:txBody>
      </p:sp>
      <p:sp>
        <p:nvSpPr>
          <p:cNvPr id="12" name="Shape 10"/>
          <p:cNvSpPr/>
          <p:nvPr/>
        </p:nvSpPr>
        <p:spPr>
          <a:xfrm>
            <a:off x="347472" y="3566160"/>
            <a:ext cx="8476488" cy="530352"/>
          </a:xfrm>
          <a:prstGeom prst="rect">
            <a:avLst/>
          </a:prstGeom>
          <a:solidFill>
            <a:srgbClr val="FFFFFF"/>
          </a:solidFill>
          <a:ln w="12700">
            <a:solidFill>
              <a:srgbClr val="D4A96A"/>
            </a:solidFill>
            <a:prstDash val="solid"/>
          </a:ln>
        </p:spPr>
      </p:sp>
      <p:sp>
        <p:nvSpPr>
          <p:cNvPr id="13" name="Text 11"/>
          <p:cNvSpPr/>
          <p:nvPr/>
        </p:nvSpPr>
        <p:spPr>
          <a:xfrm>
            <a:off x="502920" y="356616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5.  Hoerl, A.E., &amp; Kennard, R.W. (1970). Ridge Regression. Technometrics, 12(1), 55–67.</a:t>
            </a:r>
            <a:endParaRPr lang="en-US" sz="1200" dirty="0"/>
          </a:p>
        </p:txBody>
      </p:sp>
      <p:sp>
        <p:nvSpPr>
          <p:cNvPr id="14" name="Shape 12"/>
          <p:cNvSpPr/>
          <p:nvPr/>
        </p:nvSpPr>
        <p:spPr>
          <a:xfrm>
            <a:off x="347472" y="4206240"/>
            <a:ext cx="8476488" cy="530352"/>
          </a:xfrm>
          <a:prstGeom prst="rect">
            <a:avLst/>
          </a:prstGeom>
          <a:solidFill>
            <a:srgbClr val="F5F0E8"/>
          </a:solidFill>
          <a:ln w="12700">
            <a:solidFill>
              <a:srgbClr val="D4A96A"/>
            </a:solidFill>
            <a:prstDash val="solid"/>
          </a:ln>
        </p:spPr>
      </p:sp>
      <p:sp>
        <p:nvSpPr>
          <p:cNvPr id="15" name="Text 13"/>
          <p:cNvSpPr/>
          <p:nvPr/>
        </p:nvSpPr>
        <p:spPr>
          <a:xfrm>
            <a:off x="502920" y="4206240"/>
            <a:ext cx="8321040" cy="530352"/>
          </a:xfrm>
          <a:prstGeom prst="rect">
            <a:avLst/>
          </a:prstGeom>
          <a:noFill/>
          <a:ln/>
        </p:spPr>
        <p:txBody>
          <a:bodyPr wrap="square" lIns="0" tIns="0" rIns="0" bIns="0" rtlCol="0" anchor="ctr"/>
          <a:lstStyle/>
          <a:p>
            <a:pPr marL="0" indent="0">
              <a:buNone/>
            </a:pPr>
            <a:r>
              <a:rPr lang="en-US" sz="1200" dirty="0">
                <a:solidFill>
                  <a:srgbClr val="2C1810"/>
                </a:solidFill>
                <a:latin typeface="Calibri" pitchFamily="34" charset="0"/>
                <a:ea typeface="Calibri" pitchFamily="34" charset="-122"/>
                <a:cs typeface="Calibri" pitchFamily="34" charset="-120"/>
              </a:rPr>
              <a:t>6.  Tibshirani, R. (1996). Regression Shrinkage &amp; Selection via the Lasso. JRSS-B, 58(1), 267–288.</a:t>
            </a:r>
            <a:endParaRPr lang="en-US" sz="1200" dirty="0"/>
          </a:p>
        </p:txBody>
      </p:sp>
      <p:sp>
        <p:nvSpPr>
          <p:cNvPr id="16" name="Shape 14"/>
          <p:cNvSpPr/>
          <p:nvPr/>
        </p:nvSpPr>
        <p:spPr>
          <a:xfrm>
            <a:off x="347472" y="4773168"/>
            <a:ext cx="8476488" cy="292608"/>
          </a:xfrm>
          <a:prstGeom prst="rect">
            <a:avLst/>
          </a:prstGeom>
          <a:solidFill>
            <a:srgbClr val="2C1810"/>
          </a:solidFill>
          <a:ln w="12700">
            <a:solidFill>
              <a:srgbClr val="2C1810"/>
            </a:solidFill>
            <a:prstDash val="solid"/>
          </a:ln>
        </p:spPr>
      </p:sp>
      <p:sp>
        <p:nvSpPr>
          <p:cNvPr id="17" name="Text 15"/>
          <p:cNvSpPr/>
          <p:nvPr/>
        </p:nvSpPr>
        <p:spPr>
          <a:xfrm>
            <a:off x="347472" y="4773168"/>
            <a:ext cx="8476488" cy="292608"/>
          </a:xfrm>
          <a:prstGeom prst="rect">
            <a:avLst/>
          </a:prstGeom>
          <a:noFill/>
          <a:ln/>
        </p:spPr>
        <p:txBody>
          <a:bodyPr wrap="square" lIns="0" tIns="0" rIns="0" bIns="0" rtlCol="0" anchor="ctr"/>
          <a:lstStyle/>
          <a:p>
            <a:pPr marL="0" indent="0" algn="ctr">
              <a:buNone/>
            </a:pPr>
            <a:r>
              <a:rPr lang="en-US" sz="1100" dirty="0">
                <a:solidFill>
                  <a:srgbClr val="D4A96A"/>
                </a:solidFill>
                <a:latin typeface="Calibri" pitchFamily="34" charset="0"/>
                <a:ea typeface="Calibri" pitchFamily="34" charset="-122"/>
                <a:cs typeface="Calibri" pitchFamily="34" charset="-120"/>
              </a:rPr>
              <a:t>Life Expectancy Prediction  ·  WHO Dataset  ·  Regression &amp; Classification Project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72593-4B7F-9AC6-3CFB-5746B8DE3D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2895EA-2E3A-8BBF-FEC4-0664D289065B}"/>
              </a:ext>
            </a:extLst>
          </p:cNvPr>
          <p:cNvSpPr/>
          <p:nvPr/>
        </p:nvSpPr>
        <p:spPr>
          <a:xfrm>
            <a:off x="1608364" y="832756"/>
            <a:ext cx="7169876" cy="1270363"/>
          </a:xfrm>
          <a:prstGeom prst="rect">
            <a:avLst/>
          </a:prstGeom>
          <a:noFill/>
          <a:ln/>
        </p:spPr>
        <p:txBody>
          <a:bodyPr wrap="square" lIns="0" tIns="0" rIns="0" bIns="0" rtlCol="0" anchor="ctr"/>
          <a:lstStyle/>
          <a:p>
            <a:pPr marL="0" indent="0">
              <a:buNone/>
            </a:pPr>
            <a:endParaRPr lang="en-US" sz="3800" dirty="0"/>
          </a:p>
        </p:txBody>
      </p:sp>
      <p:sp>
        <p:nvSpPr>
          <p:cNvPr id="13" name="Text 11">
            <a:extLst>
              <a:ext uri="{FF2B5EF4-FFF2-40B4-BE49-F238E27FC236}">
                <a16:creationId xmlns:a16="http://schemas.microsoft.com/office/drawing/2014/main" id="{D0665D77-B981-9762-B8F6-1E745740EB0F}"/>
              </a:ext>
            </a:extLst>
          </p:cNvPr>
          <p:cNvSpPr/>
          <p:nvPr/>
        </p:nvSpPr>
        <p:spPr>
          <a:xfrm>
            <a:off x="1024128" y="1682496"/>
            <a:ext cx="1417320" cy="420624"/>
          </a:xfrm>
          <a:prstGeom prst="rect">
            <a:avLst/>
          </a:prstGeom>
          <a:noFill/>
          <a:ln/>
        </p:spPr>
        <p:txBody>
          <a:bodyPr wrap="square" lIns="0" tIns="0" rIns="0" bIns="0" rtlCol="0" anchor="ctr"/>
          <a:lstStyle/>
          <a:p>
            <a:pPr marL="0" indent="0">
              <a:buNone/>
            </a:pPr>
            <a:endParaRPr lang="en-US" sz="1200" dirty="0"/>
          </a:p>
        </p:txBody>
      </p:sp>
      <p:sp>
        <p:nvSpPr>
          <p:cNvPr id="22" name="Text 20">
            <a:extLst>
              <a:ext uri="{FF2B5EF4-FFF2-40B4-BE49-F238E27FC236}">
                <a16:creationId xmlns:a16="http://schemas.microsoft.com/office/drawing/2014/main" id="{2D0DDC43-D983-55E1-5314-836F12B269B9}"/>
              </a:ext>
            </a:extLst>
          </p:cNvPr>
          <p:cNvSpPr/>
          <p:nvPr/>
        </p:nvSpPr>
        <p:spPr>
          <a:xfrm>
            <a:off x="347472" y="3054096"/>
            <a:ext cx="438912" cy="438912"/>
          </a:xfrm>
          <a:prstGeom prst="rect">
            <a:avLst/>
          </a:prstGeom>
          <a:noFill/>
          <a:ln/>
        </p:spPr>
        <p:txBody>
          <a:bodyPr wrap="square" lIns="0" tIns="0" rIns="0" bIns="0" rtlCol="0" anchor="ctr"/>
          <a:lstStyle/>
          <a:p>
            <a:pPr marL="0" indent="0" algn="ctr">
              <a:buNone/>
            </a:pPr>
            <a:endParaRPr lang="en-US" sz="1400" dirty="0"/>
          </a:p>
        </p:txBody>
      </p:sp>
      <p:sp>
        <p:nvSpPr>
          <p:cNvPr id="32" name="Text 30">
            <a:extLst>
              <a:ext uri="{FF2B5EF4-FFF2-40B4-BE49-F238E27FC236}">
                <a16:creationId xmlns:a16="http://schemas.microsoft.com/office/drawing/2014/main" id="{AFF4B9C8-9875-D9BE-5EED-C9ADBACCCC03}"/>
              </a:ext>
            </a:extLst>
          </p:cNvPr>
          <p:cNvSpPr/>
          <p:nvPr/>
        </p:nvSpPr>
        <p:spPr>
          <a:xfrm>
            <a:off x="2487168" y="3712464"/>
            <a:ext cx="6236208" cy="420624"/>
          </a:xfrm>
          <a:prstGeom prst="rect">
            <a:avLst/>
          </a:prstGeom>
          <a:noFill/>
          <a:ln/>
        </p:spPr>
        <p:txBody>
          <a:bodyPr wrap="square" lIns="0" tIns="0" rIns="0" bIns="0" rtlCol="0" anchor="ctr"/>
          <a:lstStyle/>
          <a:p>
            <a:pPr marL="0" indent="0">
              <a:buNone/>
            </a:pPr>
            <a:endParaRPr lang="en-US" sz="1150" dirty="0"/>
          </a:p>
        </p:txBody>
      </p:sp>
      <p:sp>
        <p:nvSpPr>
          <p:cNvPr id="34" name="Text 32">
            <a:extLst>
              <a:ext uri="{FF2B5EF4-FFF2-40B4-BE49-F238E27FC236}">
                <a16:creationId xmlns:a16="http://schemas.microsoft.com/office/drawing/2014/main" id="{1EC532D9-3D14-0866-6EDD-165869F723A6}"/>
              </a:ext>
            </a:extLst>
          </p:cNvPr>
          <p:cNvSpPr/>
          <p:nvPr/>
        </p:nvSpPr>
        <p:spPr>
          <a:xfrm>
            <a:off x="347472" y="4407408"/>
            <a:ext cx="438912" cy="438912"/>
          </a:xfrm>
          <a:prstGeom prst="rect">
            <a:avLst/>
          </a:prstGeom>
          <a:noFill/>
          <a:ln/>
        </p:spPr>
        <p:txBody>
          <a:bodyPr wrap="square" lIns="0" tIns="0" rIns="0" bIns="0" rtlCol="0" anchor="ctr"/>
          <a:lstStyle/>
          <a:p>
            <a:pPr marL="0" indent="0" algn="ctr">
              <a:buNone/>
            </a:pPr>
            <a:endParaRPr lang="en-US" sz="1400" dirty="0"/>
          </a:p>
        </p:txBody>
      </p:sp>
      <p:sp>
        <p:nvSpPr>
          <p:cNvPr id="42" name="Shape 18">
            <a:extLst>
              <a:ext uri="{FF2B5EF4-FFF2-40B4-BE49-F238E27FC236}">
                <a16:creationId xmlns:a16="http://schemas.microsoft.com/office/drawing/2014/main" id="{7786BE86-1FA1-001E-6B5D-5701C46FF91C}"/>
              </a:ext>
            </a:extLst>
          </p:cNvPr>
          <p:cNvSpPr/>
          <p:nvPr/>
        </p:nvSpPr>
        <p:spPr>
          <a:xfrm>
            <a:off x="-57667" y="-74141"/>
            <a:ext cx="9267569" cy="5305168"/>
          </a:xfrm>
          <a:prstGeom prst="rect">
            <a:avLst/>
          </a:prstGeom>
          <a:solidFill>
            <a:srgbClr val="2C1810"/>
          </a:solidFill>
          <a:ln w="12700">
            <a:solidFill>
              <a:srgbClr val="2C1810"/>
            </a:solidFill>
            <a:prstDash val="solid"/>
          </a:ln>
        </p:spPr>
        <p:txBody>
          <a:bodyPr/>
          <a:lstStyle/>
          <a:p>
            <a:endParaRPr lang="en-US" dirty="0">
              <a:solidFill>
                <a:srgbClr val="C8963C"/>
              </a:solidFill>
              <a:latin typeface="Georgia" pitchFamily="34" charset="0"/>
              <a:ea typeface="Georgia" pitchFamily="34" charset="-122"/>
              <a:cs typeface="Georgia" pitchFamily="34" charset="-120"/>
            </a:endParaRPr>
          </a:p>
          <a:p>
            <a:endParaRPr lang="en-US" dirty="0">
              <a:solidFill>
                <a:srgbClr val="C8963C"/>
              </a:solidFill>
              <a:latin typeface="Georgia" pitchFamily="34" charset="0"/>
              <a:ea typeface="Georgia" pitchFamily="34" charset="-122"/>
              <a:cs typeface="Georgia" pitchFamily="34" charset="-120"/>
            </a:endParaRPr>
          </a:p>
          <a:p>
            <a:endParaRPr lang="en-US" dirty="0">
              <a:solidFill>
                <a:srgbClr val="C8963C"/>
              </a:solidFill>
              <a:latin typeface="Georgia" pitchFamily="34" charset="0"/>
              <a:ea typeface="Georgia" pitchFamily="34" charset="-122"/>
              <a:cs typeface="Georgia" pitchFamily="34" charset="-120"/>
            </a:endParaRPr>
          </a:p>
          <a:p>
            <a:endParaRPr lang="en-US" dirty="0">
              <a:solidFill>
                <a:srgbClr val="C8963C"/>
              </a:solidFill>
              <a:latin typeface="Georgia" pitchFamily="34" charset="0"/>
              <a:ea typeface="Georgia" pitchFamily="34" charset="-122"/>
              <a:cs typeface="Georgia" pitchFamily="34" charset="-120"/>
            </a:endParaRPr>
          </a:p>
          <a:p>
            <a:r>
              <a:rPr lang="en-US" dirty="0">
                <a:solidFill>
                  <a:srgbClr val="C8963C"/>
                </a:solidFill>
                <a:latin typeface="Georgia" pitchFamily="34" charset="0"/>
                <a:ea typeface="Georgia" pitchFamily="34" charset="-122"/>
                <a:cs typeface="Georgia" pitchFamily="34" charset="-120"/>
              </a:rPr>
              <a:t>                                                                   </a:t>
            </a:r>
          </a:p>
          <a:p>
            <a:endParaRPr lang="en-US" dirty="0">
              <a:solidFill>
                <a:srgbClr val="C8963C"/>
              </a:solidFill>
              <a:latin typeface="Georgia" pitchFamily="34" charset="0"/>
              <a:ea typeface="Georgia" pitchFamily="34" charset="-122"/>
              <a:cs typeface="Georgia" pitchFamily="34" charset="-120"/>
            </a:endParaRPr>
          </a:p>
          <a:p>
            <a:endParaRPr lang="en-US" dirty="0">
              <a:solidFill>
                <a:srgbClr val="C8963C"/>
              </a:solidFill>
              <a:latin typeface="Georgia" pitchFamily="34" charset="0"/>
              <a:ea typeface="Georgia" pitchFamily="34" charset="-122"/>
              <a:cs typeface="Georgia" pitchFamily="34" charset="-120"/>
            </a:endParaRPr>
          </a:p>
          <a:p>
            <a:endParaRPr lang="en-US" dirty="0">
              <a:solidFill>
                <a:srgbClr val="C8963C"/>
              </a:solidFill>
              <a:latin typeface="Georgia" pitchFamily="34" charset="0"/>
              <a:ea typeface="Georgia" pitchFamily="34" charset="-122"/>
              <a:cs typeface="Georgia" pitchFamily="34" charset="-120"/>
            </a:endParaRPr>
          </a:p>
          <a:p>
            <a:r>
              <a:rPr lang="en-US" dirty="0">
                <a:solidFill>
                  <a:srgbClr val="C8963C"/>
                </a:solidFill>
                <a:latin typeface="Georgia" pitchFamily="34" charset="0"/>
                <a:ea typeface="Georgia" pitchFamily="34" charset="-122"/>
                <a:cs typeface="Georgia" pitchFamily="34" charset="-120"/>
              </a:rPr>
              <a:t>                                        </a:t>
            </a:r>
            <a:r>
              <a:rPr lang="en-US" sz="6600" dirty="0">
                <a:solidFill>
                  <a:srgbClr val="C8963C"/>
                </a:solidFill>
                <a:latin typeface="Georgia" pitchFamily="34" charset="0"/>
                <a:ea typeface="Georgia" pitchFamily="34" charset="-122"/>
                <a:cs typeface="Georgia" pitchFamily="34" charset="-120"/>
              </a:rPr>
              <a:t>THANK YOU</a:t>
            </a:r>
            <a:endParaRPr lang="en-US" sz="6600" dirty="0"/>
          </a:p>
        </p:txBody>
      </p:sp>
    </p:spTree>
    <p:extLst>
      <p:ext uri="{BB962C8B-B14F-4D97-AF65-F5344CB8AC3E}">
        <p14:creationId xmlns:p14="http://schemas.microsoft.com/office/powerpoint/2010/main" val="2987249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996</TotalTime>
  <Words>1056</Words>
  <Application>Microsoft Office PowerPoint</Application>
  <PresentationFormat>On-screen Show (16:9)</PresentationFormat>
  <Paragraphs>162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Franklin Gothic Medium</vt:lpstr>
      <vt:lpstr>Franklin Gothic Medium Cond</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Expectancy Prediction</dc:title>
  <dc:subject>PptxGenJS Presentation</dc:subject>
  <dc:creator>Student</dc:creator>
  <cp:lastModifiedBy>renymaria2002@gmail.com</cp:lastModifiedBy>
  <cp:revision>5</cp:revision>
  <dcterms:created xsi:type="dcterms:W3CDTF">2026-04-22T06:34:52Z</dcterms:created>
  <dcterms:modified xsi:type="dcterms:W3CDTF">2026-04-23T16:22:16Z</dcterms:modified>
</cp:coreProperties>
</file>